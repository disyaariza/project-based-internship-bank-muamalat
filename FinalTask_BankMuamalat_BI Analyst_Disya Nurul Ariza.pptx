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8" r:id="rId3"/>
    <p:sldId id="264" r:id="rId4"/>
    <p:sldId id="265" r:id="rId5"/>
    <p:sldId id="266" r:id="rId6"/>
    <p:sldId id="278" r:id="rId7"/>
    <p:sldId id="282" r:id="rId8"/>
    <p:sldId id="285" r:id="rId9"/>
    <p:sldId id="283" r:id="rId10"/>
    <p:sldId id="284" r:id="rId11"/>
    <p:sldId id="279" r:id="rId12"/>
    <p:sldId id="277" r:id="rId13"/>
    <p:sldId id="281" r:id="rId14"/>
    <p:sldId id="263" r:id="rId15"/>
  </p:sldIdLst>
  <p:sldSz cx="9144000" cy="5143500" type="screen16x9"/>
  <p:notesSz cx="6858000" cy="9144000"/>
  <p:embeddedFontLst>
    <p:embeddedFont>
      <p:font typeface="Rubik" panose="020B0604020202020204" charset="-79"/>
      <p:regular r:id="rId17"/>
      <p:bold r:id="rId18"/>
      <p:italic r:id="rId19"/>
      <p:boldItalic r:id="rId20"/>
    </p:embeddedFont>
    <p:embeddedFont>
      <p:font typeface="Rubik Light" panose="020B0604020202020204" charset="-79"/>
      <p:regular r:id="rId21"/>
      <p:bold r:id="rId22"/>
      <p:italic r:id="rId23"/>
      <p:boldItalic r:id="rId24"/>
    </p:embeddedFont>
    <p:embeddedFont>
      <p:font typeface="Rubik Medium" panose="020B0604020202020204" charset="-79"/>
      <p:regular r:id="rId25"/>
      <p:bold r:id="rId26"/>
      <p:italic r:id="rId27"/>
      <p:boldItalic r:id="rId28"/>
    </p:embeddedFont>
    <p:embeddedFont>
      <p:font typeface="Rubik SemiBold" panose="020B0604020202020204" charset="-79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356d9b0f1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356d9b0f1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bdf37049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26bdf37049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bdf37049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6bdf37049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6bdf3704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26bdf3704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bdf37049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bdf37049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1C603C2A-0FFC-E1AB-12D1-532ADE6D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87898B82-8608-C57C-83CC-CA5E0622B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36EBF5DF-1F2C-C46A-6DF9-2EAFA4799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7156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A40BB58A-9B81-7020-E395-8F151E4D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90D00E19-B727-DFCC-D0A0-BD4176F452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09F16C3D-E7FB-5034-6C6F-FC668F37E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292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0AD36360-FB7F-2CE1-3122-59F66AC34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7A851038-CC07-F2B5-8B4C-11A20AA97A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2F00DDAC-4445-E442-553C-74733F45AE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186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ACE6A191-30CD-20F1-E0F2-A00D1686D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A1445276-D69F-0F66-5701-5AD8957C65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F8999AB8-923A-F364-21C4-AE1B58CA5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9974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DA485319-323D-A49C-5BFB-17891C9E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FE7528EB-DD5C-BED7-71CA-5AB871882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25B1C699-CF9E-E7A5-F067-ED82DD010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657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542D5F1F-60AB-6CCB-63AB-1E70EC93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02A18111-E6D9-197D-F784-ABED5AD0AF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D660AE89-0F05-C0BA-E281-257300AEF2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56239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1FA36BD4-2035-783F-19B8-6C2D6522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C871B4D4-795A-EFB6-D268-8086E32F1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31BD0932-D0D2-E24A-8985-5F13E8BCC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4976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93C240AF-A9CA-05C4-6EFC-3C5C3774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c93f6c33a_1_14:notes">
            <a:extLst>
              <a:ext uri="{FF2B5EF4-FFF2-40B4-BE49-F238E27FC236}">
                <a16:creationId xmlns:a16="http://schemas.microsoft.com/office/drawing/2014/main" id="{AF429479-BCF6-BC27-6FEF-B6E2119C1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26c93f6c33a_1_14:notes">
            <a:extLst>
              <a:ext uri="{FF2B5EF4-FFF2-40B4-BE49-F238E27FC236}">
                <a16:creationId xmlns:a16="http://schemas.microsoft.com/office/drawing/2014/main" id="{AE3F462C-5E12-9C10-C872-2D5787E240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512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200da5092a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200da5092a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isyaAriza/sertifikat-disya/blob/main/Sertifikat_DISYA%20NURUL%20ARIZA_Associate%20Data%20Scientist%20Certification.pdf" TargetMode="External"/><Relationship Id="rId13" Type="http://schemas.openxmlformats.org/officeDocument/2006/relationships/hyperlink" Target="https://github.com/DisyaAriza/sertifikat-disya/blob/main/certificate-DQLAB%204%20INTP1QJLIQP.pdf" TargetMode="External"/><Relationship Id="rId18" Type="http://schemas.openxmlformats.org/officeDocument/2006/relationships/hyperlink" Target="https://github.com/DisyaAriza/sertifikat-disya/blob/main/disya-ariza-certificate-completion-damc23.pdf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github.com/DisyaAriza/sertifikat-disya/blob/main/TOEFL.pdf" TargetMode="External"/><Relationship Id="rId12" Type="http://schemas.openxmlformats.org/officeDocument/2006/relationships/hyperlink" Target="https://github.com/DisyaAriza/sertifikat-disya/blob/main/certificate.pdf" TargetMode="External"/><Relationship Id="rId17" Type="http://schemas.openxmlformats.org/officeDocument/2006/relationships/hyperlink" Target="https://github.com/DisyaAriza/sertifikat-disya/blob/main/Sertifikat%20Bootcamp%20myskill%20disya%202024.pdf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github.com/DisyaAriza/sertifikat-disya/blob/main/sertifikat_course_615_3643863_180924145248.pdf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github.com/DisyaAriza/sertifikat-disya/blob/main/SERTIFIKAT%20BNSP%20DATABASE%20PROGRAMMER.pdf" TargetMode="External"/><Relationship Id="rId11" Type="http://schemas.openxmlformats.org/officeDocument/2006/relationships/hyperlink" Target="https://github.com/DisyaAriza/sertifikat-disya/blob/main/certificate%20(1).pdf" TargetMode="External"/><Relationship Id="rId5" Type="http://schemas.openxmlformats.org/officeDocument/2006/relationships/hyperlink" Target="https://github.com/DisyaAriza/sertifikat-disya/blob/main/SERTIFIKAT%20BNSP%20ANALIS%20PROGRAM.pdf" TargetMode="External"/><Relationship Id="rId15" Type="http://schemas.openxmlformats.org/officeDocument/2006/relationships/hyperlink" Target="https://github.com/DisyaAriza/sertifikat-disya/blob/main/certificate-DQLAB%202%20INTR1ATCIVA.pdf" TargetMode="External"/><Relationship Id="rId10" Type="http://schemas.openxmlformats.org/officeDocument/2006/relationships/hyperlink" Target="https://github.com/DisyaAriza/sertifikat-disya/blob/main/Sertifikat_DISYA%20NURUL%20ARIZA_Fundamental%20Data%20Science%20(1).pdf" TargetMode="External"/><Relationship Id="rId19" Type="http://schemas.openxmlformats.org/officeDocument/2006/relationships/hyperlink" Target="https://github.com/DisyaAriza/sertifikat-disya/blob/main/Disya%20Nurul%20Ariza%20-%20E-Certificate%20SC%20Data%20Analysis%20MySkill%20Agustus%202023.pdf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github.com/DisyaAriza/sertifikat-disya/blob/main/Sertifikat_DISYA%20NURUL%20ARIZA_Intermediate%20Data%20Science.pdf" TargetMode="External"/><Relationship Id="rId14" Type="http://schemas.openxmlformats.org/officeDocument/2006/relationships/hyperlink" Target="https://github.com/DisyaAriza/sertifikat-disya/blob/main/certificate-DQLAB%203%20SQLT1QHKFLV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github.com/DisyaAriza/Project-Based-Internship-Bank-Muamalat/blob/main/Bigquery%20Master%20Table.sq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lookerstudio.google.com/reporting/2d019141-c592-4a46-8148-143a5c3d68e3" TargetMode="External"/><Relationship Id="rId5" Type="http://schemas.openxmlformats.org/officeDocument/2006/relationships/hyperlink" Target="https://youtu.be/2tf3Fd2eGBw?si=xZOYhWpOEiW8w43w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9800" y="186500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517899" y="1124135"/>
            <a:ext cx="5923722" cy="9232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Analisis Penjualan</a:t>
            </a:r>
            <a:endParaRPr sz="4800" dirty="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17899" y="2047434"/>
            <a:ext cx="4392000" cy="95407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Business Intelligence Analyst VIX Bank Muamalat</a:t>
            </a:r>
            <a:endParaRPr sz="2500" dirty="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769125" y="172450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17899" y="3124621"/>
            <a:ext cx="4392000" cy="80018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Disya Nurul Ariza</a:t>
            </a:r>
            <a:endParaRPr sz="2000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pic>
        <p:nvPicPr>
          <p:cNvPr id="2" name="object 13">
            <a:extLst>
              <a:ext uri="{FF2B5EF4-FFF2-40B4-BE49-F238E27FC236}">
                <a16:creationId xmlns:a16="http://schemas.microsoft.com/office/drawing/2014/main" id="{E19ED8E0-C948-DE6C-8117-0B7A8700368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86876" y="186500"/>
            <a:ext cx="1511000" cy="4268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19FAB">
              <a:alpha val="4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1033575" y="470775"/>
            <a:ext cx="2431800" cy="3298800"/>
          </a:xfrm>
          <a:prstGeom prst="roundRect">
            <a:avLst>
              <a:gd name="adj" fmla="val 16667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867250" y="959175"/>
            <a:ext cx="3504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DISYA NURUL ARIZA</a:t>
            </a:r>
            <a:endParaRPr sz="2000" b="0" i="0" u="none" strike="noStrike" cap="none" dirty="0">
              <a:solidFill>
                <a:srgbClr val="000000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867250" y="1604175"/>
            <a:ext cx="3504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buSzPts val="2000"/>
            </a:pPr>
            <a:r>
              <a:rPr lang="en-ID" sz="2000" dirty="0"/>
              <a:t>Data Scientist Intern</a:t>
            </a:r>
            <a:endParaRPr sz="2000" b="0" i="0" u="none" strike="noStrike" cap="none" dirty="0">
              <a:solidFill>
                <a:srgbClr val="019FAB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067300" y="2254421"/>
            <a:ext cx="35046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50000"/>
              </a:lnSpc>
              <a:buSzPts val="2000"/>
            </a:pPr>
            <a:r>
              <a:rPr lang="en-ID" sz="1200" dirty="0" err="1"/>
              <a:t>Seorang</a:t>
            </a:r>
            <a:r>
              <a:rPr lang="en-ID" sz="1200" dirty="0"/>
              <a:t> fresh graduate </a:t>
            </a:r>
            <a:r>
              <a:rPr lang="en-ID" sz="1200" dirty="0" err="1"/>
              <a:t>Teknologi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Universitas Bina Sarana </a:t>
            </a:r>
            <a:r>
              <a:rPr lang="en-ID" sz="1200" dirty="0" err="1"/>
              <a:t>Informatika</a:t>
            </a:r>
            <a:r>
              <a:rPr lang="en-ID" sz="1200" dirty="0"/>
              <a:t> </a:t>
            </a:r>
            <a:r>
              <a:rPr lang="en-ID" sz="1200" dirty="0" err="1"/>
              <a:t>angkatan</a:t>
            </a:r>
            <a:r>
              <a:rPr lang="en-ID" sz="1200" dirty="0"/>
              <a:t> 2021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minat</a:t>
            </a:r>
            <a:r>
              <a:rPr lang="en-ID" sz="1200" dirty="0"/>
              <a:t> </a:t>
            </a:r>
            <a:r>
              <a:rPr lang="en-ID" sz="1200" dirty="0" err="1"/>
              <a:t>besar</a:t>
            </a:r>
            <a:r>
              <a:rPr lang="en-ID" sz="1200" dirty="0"/>
              <a:t> pada </a:t>
            </a:r>
            <a:r>
              <a:rPr lang="en-ID" sz="1200" dirty="0" err="1"/>
              <a:t>analisis</a:t>
            </a:r>
            <a:r>
              <a:rPr lang="en-ID" sz="1200" dirty="0"/>
              <a:t> data, </a:t>
            </a:r>
            <a:r>
              <a:rPr lang="en-ID" sz="1200" dirty="0" err="1"/>
              <a:t>statistika</a:t>
            </a:r>
            <a:r>
              <a:rPr lang="en-ID" sz="1200" dirty="0"/>
              <a:t>, dan </a:t>
            </a:r>
            <a:r>
              <a:rPr lang="en-ID" sz="1200" dirty="0" err="1"/>
              <a:t>visualisasi</a:t>
            </a:r>
            <a:r>
              <a:rPr lang="en-ID" sz="1200" dirty="0"/>
              <a:t> data,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keterampilan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Python, MySQL, RapidMiner, dan tool </a:t>
            </a:r>
            <a:r>
              <a:rPr lang="en-ID" sz="1200" dirty="0" err="1"/>
              <a:t>visualisasi</a:t>
            </a:r>
            <a:r>
              <a:rPr lang="en-ID" sz="1200" dirty="0"/>
              <a:t> </a:t>
            </a:r>
            <a:r>
              <a:rPr lang="en-ID" sz="1200" dirty="0" err="1"/>
              <a:t>seperti</a:t>
            </a:r>
            <a:r>
              <a:rPr lang="en-ID" sz="1200" dirty="0"/>
              <a:t> Tableau dan Power BI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analisis</a:t>
            </a:r>
            <a:r>
              <a:rPr lang="en-ID" sz="1200" dirty="0"/>
              <a:t> dan </a:t>
            </a:r>
            <a:r>
              <a:rPr lang="en-ID" sz="1200" dirty="0" err="1"/>
              <a:t>pengolahan</a:t>
            </a:r>
            <a:r>
              <a:rPr lang="en-ID" sz="1200" dirty="0"/>
              <a:t> data.</a:t>
            </a:r>
            <a:endParaRPr sz="120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1004800" y="3928325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Serang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Baru, </a:t>
            </a:r>
            <a:r>
              <a:rPr lang="en-US" sz="1200" b="0" i="0" u="none" strike="noStrike" cap="none" dirty="0" err="1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Kabupaten</a:t>
            </a:r>
            <a:r>
              <a:rPr lang="en-US" sz="1200" b="0" i="0" u="none" strike="noStrike" cap="none" dirty="0">
                <a:solidFill>
                  <a:srgbClr val="000000"/>
                </a:solidFill>
                <a:latin typeface="Rubik Medium"/>
                <a:ea typeface="Rubik Medium"/>
                <a:cs typeface="Rubik Medium"/>
                <a:sym typeface="Rubik Medium"/>
              </a:rPr>
              <a:t> Bekasi, Jawa Barat</a:t>
            </a:r>
            <a:endParaRPr sz="12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750" y="4774200"/>
            <a:ext cx="36930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5300" y="3912875"/>
            <a:ext cx="400201" cy="40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4096" y="4411877"/>
            <a:ext cx="369300" cy="26351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988472" y="4720063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  <a:buSzPts val="2000"/>
            </a:pPr>
            <a:r>
              <a:rPr lang="en-ID" sz="1200" dirty="0">
                <a:latin typeface="Rubik Medium" panose="020B0604020202020204" charset="-79"/>
                <a:cs typeface="Rubik Medium" panose="020B0604020202020204" charset="-79"/>
              </a:rPr>
              <a:t>www.linkedin.com/in/disya-nurul-ariza24</a:t>
            </a:r>
            <a:endParaRPr sz="1200" b="0" i="0" u="none" strike="noStrike" cap="none" dirty="0">
              <a:solidFill>
                <a:srgbClr val="000000"/>
              </a:solidFill>
              <a:latin typeface="Rubik Medium" panose="020B0604020202020204" charset="-79"/>
              <a:ea typeface="Rubik Medium"/>
              <a:cs typeface="Rubik Medium" panose="020B0604020202020204" charset="-79"/>
              <a:sym typeface="Rubik Medium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997778" y="4312565"/>
            <a:ext cx="3504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200" dirty="0">
                <a:latin typeface="Rubik Medium"/>
                <a:ea typeface="Rubik Medium"/>
                <a:cs typeface="Rubik Medium"/>
                <a:sym typeface="Rubik Medium"/>
              </a:rPr>
              <a:t>Disyaaarizaaa24@gmail.com</a:t>
            </a:r>
            <a:endParaRPr sz="1200" b="0" i="0" u="none" strike="noStrike" cap="none" dirty="0">
              <a:solidFill>
                <a:srgbClr val="000000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340500" y="1406350"/>
            <a:ext cx="3643671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ID" sz="1000" b="1" dirty="0"/>
              <a:t>SERTIFIKASI </a:t>
            </a:r>
          </a:p>
          <a:p>
            <a:pPr marL="171450" lvl="0" indent="-171450" algn="just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 err="1"/>
              <a:t>Sertifikat</a:t>
            </a:r>
            <a:r>
              <a:rPr lang="en-ID" sz="1000" dirty="0"/>
              <a:t> BNSP Database Programmer – LSP </a:t>
            </a:r>
            <a:r>
              <a:rPr lang="en-ID" sz="1000" dirty="0" err="1"/>
              <a:t>Teknologi</a:t>
            </a:r>
            <a:r>
              <a:rPr lang="en-ID" sz="1000" dirty="0"/>
              <a:t> Digital | </a:t>
            </a:r>
            <a:r>
              <a:rPr lang="en-ID" sz="1000" dirty="0">
                <a:hlinkClick r:id="rId5"/>
              </a:rPr>
              <a:t>Link </a:t>
            </a:r>
            <a:r>
              <a:rPr lang="en-ID" sz="1000" dirty="0" err="1">
                <a:hlinkClick r:id="rId5"/>
              </a:rPr>
              <a:t>Sertifikat</a:t>
            </a:r>
            <a:r>
              <a:rPr lang="en-ID" sz="1000" dirty="0">
                <a:hlinkClick r:id="rId5"/>
              </a:rPr>
              <a:t> </a:t>
            </a:r>
            <a:r>
              <a:rPr lang="en-ID" sz="1000" dirty="0"/>
              <a:t>| </a:t>
            </a:r>
            <a:r>
              <a:rPr lang="en-ID" sz="1000" dirty="0" err="1"/>
              <a:t>Tanggal</a:t>
            </a:r>
            <a:r>
              <a:rPr lang="en-ID" sz="1000" dirty="0"/>
              <a:t> </a:t>
            </a:r>
            <a:r>
              <a:rPr lang="en-ID" sz="1000" dirty="0" err="1"/>
              <a:t>Ujian</a:t>
            </a:r>
            <a:r>
              <a:rPr lang="en-ID" sz="1000" dirty="0"/>
              <a:t>: 30 Mei 2025 </a:t>
            </a:r>
          </a:p>
          <a:p>
            <a:pPr marL="171450" indent="-171450" algn="just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 err="1"/>
              <a:t>Sertifikat</a:t>
            </a:r>
            <a:r>
              <a:rPr lang="en-ID" sz="1000" dirty="0"/>
              <a:t> BNSP Analis Program – LSP Universitas Bina Sarana </a:t>
            </a:r>
            <a:r>
              <a:rPr lang="en-ID" sz="1000" dirty="0" err="1"/>
              <a:t>Informatika</a:t>
            </a:r>
            <a:r>
              <a:rPr lang="en-ID" sz="1000" dirty="0"/>
              <a:t> | </a:t>
            </a:r>
            <a:r>
              <a:rPr lang="en-ID" sz="1000" dirty="0">
                <a:hlinkClick r:id="rId6"/>
              </a:rPr>
              <a:t>Link </a:t>
            </a:r>
            <a:r>
              <a:rPr lang="en-ID" sz="1000" dirty="0" err="1">
                <a:hlinkClick r:id="rId6"/>
              </a:rPr>
              <a:t>Sertifikat</a:t>
            </a:r>
            <a:r>
              <a:rPr lang="en-ID" sz="1000" dirty="0">
                <a:hlinkClick r:id="rId6"/>
              </a:rPr>
              <a:t> </a:t>
            </a:r>
            <a:r>
              <a:rPr lang="en-ID" sz="1000" dirty="0"/>
              <a:t>| </a:t>
            </a:r>
            <a:r>
              <a:rPr lang="en-ID" sz="1000" dirty="0" err="1"/>
              <a:t>Tanggal</a:t>
            </a:r>
            <a:r>
              <a:rPr lang="en-ID" sz="1000" dirty="0"/>
              <a:t> </a:t>
            </a:r>
            <a:r>
              <a:rPr lang="en-ID" sz="1000" dirty="0" err="1"/>
              <a:t>Ujian</a:t>
            </a:r>
            <a:r>
              <a:rPr lang="en-ID" sz="1000" dirty="0"/>
              <a:t>: 14 Januari 2025 </a:t>
            </a:r>
          </a:p>
          <a:p>
            <a:pPr marL="171450" indent="-171450" algn="just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 err="1"/>
              <a:t>Sertifikat</a:t>
            </a:r>
            <a:r>
              <a:rPr lang="en-ID" sz="1000" dirty="0"/>
              <a:t> TOEFL – Lembaga Bahasa | </a:t>
            </a:r>
            <a:r>
              <a:rPr lang="en-ID" sz="1000" dirty="0">
                <a:hlinkClick r:id="rId7"/>
              </a:rPr>
              <a:t>Link </a:t>
            </a:r>
            <a:r>
              <a:rPr lang="en-ID" sz="1000" dirty="0" err="1">
                <a:hlinkClick r:id="rId7"/>
              </a:rPr>
              <a:t>Sertifikat</a:t>
            </a:r>
            <a:r>
              <a:rPr lang="en-ID" sz="1000" dirty="0"/>
              <a:t> | </a:t>
            </a:r>
            <a:r>
              <a:rPr lang="en-ID" sz="1000" dirty="0" err="1"/>
              <a:t>Tanggal</a:t>
            </a:r>
            <a:r>
              <a:rPr lang="en-ID" sz="1000" dirty="0"/>
              <a:t> </a:t>
            </a:r>
            <a:r>
              <a:rPr lang="en-ID" sz="1000" dirty="0" err="1"/>
              <a:t>Ujian</a:t>
            </a:r>
            <a:r>
              <a:rPr lang="en-ID" sz="1000" dirty="0"/>
              <a:t>: 10 </a:t>
            </a:r>
            <a:r>
              <a:rPr lang="en-ID" sz="1000" dirty="0" err="1"/>
              <a:t>Februari</a:t>
            </a:r>
            <a:r>
              <a:rPr lang="en-ID" sz="1000" dirty="0"/>
              <a:t> 2025</a:t>
            </a:r>
          </a:p>
          <a:p>
            <a:pPr marL="171450" indent="-171450" algn="just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Surat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Keterangan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Kompeten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 Associate Data Scientist - </a:t>
            </a:r>
            <a:r>
              <a:rPr lang="en-ID" sz="1000" dirty="0">
                <a:latin typeface="+mj-lt"/>
              </a:rPr>
              <a:t>Digital Talent Scholarship 2025</a:t>
            </a:r>
            <a:r>
              <a:rPr lang="en-ID" sz="1000" dirty="0">
                <a:solidFill>
                  <a:schemeClr val="tx1"/>
                </a:solidFill>
                <a:latin typeface="+mj-lt"/>
                <a:cs typeface="Rubik"/>
                <a:sym typeface="Rubik"/>
              </a:rPr>
              <a:t> 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| 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  <a:hlinkClick r:id="rId8"/>
              </a:rPr>
              <a:t>Link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  <a:hlinkClick r:id="rId8"/>
              </a:rPr>
              <a:t>Sertifikat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  <a:hlinkClick r:id="rId8"/>
              </a:rPr>
              <a:t> 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|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Tanggal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ID" sz="1000" b="0" i="0" u="none" strike="noStrike" cap="none" dirty="0" err="1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Ujian</a:t>
            </a:r>
            <a:r>
              <a:rPr lang="en-ID" sz="1000" b="0" i="0" u="none" strike="noStrike" cap="none" dirty="0">
                <a:solidFill>
                  <a:schemeClr val="tx1"/>
                </a:solidFill>
                <a:latin typeface="+mj-lt"/>
                <a:ea typeface="Rubik"/>
                <a:cs typeface="Rubik"/>
                <a:sym typeface="Rubik"/>
              </a:rPr>
              <a:t>: 11 September 2025</a:t>
            </a:r>
            <a:endParaRPr sz="1000" b="0" i="0" u="none" strike="noStrike" cap="none" dirty="0">
              <a:solidFill>
                <a:schemeClr val="tx1"/>
              </a:solidFill>
              <a:latin typeface="+mj-lt"/>
              <a:ea typeface="Rubik"/>
              <a:cs typeface="Rubik"/>
              <a:sym typeface="Rubik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Courses and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Certification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92;p16">
            <a:extLst>
              <a:ext uri="{FF2B5EF4-FFF2-40B4-BE49-F238E27FC236}">
                <a16:creationId xmlns:a16="http://schemas.microsoft.com/office/drawing/2014/main" id="{875939B3-C41B-6396-6B6B-944142EB8EDE}"/>
              </a:ext>
            </a:extLst>
          </p:cNvPr>
          <p:cNvSpPr txBox="1"/>
          <p:nvPr/>
        </p:nvSpPr>
        <p:spPr>
          <a:xfrm>
            <a:off x="3984172" y="993338"/>
            <a:ext cx="4989580" cy="395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ID" sz="1000" b="1" dirty="0"/>
              <a:t>PELATIHAN</a:t>
            </a:r>
          </a:p>
          <a:p>
            <a:pPr marL="171450" lvl="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Intermediate Data Science – Digital Talent Scholarship 2025 (Juli 2025) | </a:t>
            </a:r>
            <a:r>
              <a:rPr lang="en-ID" sz="1000" dirty="0">
                <a:hlinkClick r:id="rId9"/>
              </a:rPr>
              <a:t>Link </a:t>
            </a:r>
            <a:r>
              <a:rPr lang="en-ID" sz="1000" dirty="0" err="1">
                <a:hlinkClick r:id="rId9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Fundamental Data Science – Digital Talent Scholarship 2025 (Juni 2025) | </a:t>
            </a:r>
            <a:r>
              <a:rPr lang="en-ID" sz="1000" dirty="0">
                <a:hlinkClick r:id="rId10"/>
              </a:rPr>
              <a:t>Link </a:t>
            </a:r>
            <a:r>
              <a:rPr lang="en-ID" sz="1000" dirty="0" err="1">
                <a:hlinkClick r:id="rId10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AI for Beginners – HP LIFE (November 2024) | </a:t>
            </a:r>
            <a:r>
              <a:rPr lang="en-ID" sz="1000" dirty="0">
                <a:hlinkClick r:id="rId11"/>
              </a:rPr>
              <a:t>Link </a:t>
            </a:r>
            <a:r>
              <a:rPr lang="en-ID" sz="1000" dirty="0" err="1">
                <a:hlinkClick r:id="rId11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Data Science &amp; Analytics – HP LIFE (November 2024) | </a:t>
            </a:r>
            <a:r>
              <a:rPr lang="en-ID" sz="1000" dirty="0">
                <a:hlinkClick r:id="rId12"/>
              </a:rPr>
              <a:t>Link </a:t>
            </a:r>
            <a:r>
              <a:rPr lang="en-ID" sz="1000" dirty="0" err="1">
                <a:hlinkClick r:id="rId12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Python Fundamental for Data Science – </a:t>
            </a:r>
            <a:r>
              <a:rPr lang="en-ID" sz="1000" dirty="0" err="1"/>
              <a:t>DQLab</a:t>
            </a:r>
            <a:r>
              <a:rPr lang="en-ID" sz="1000" dirty="0"/>
              <a:t> (November 2024) | </a:t>
            </a:r>
            <a:r>
              <a:rPr lang="en-ID" sz="1000" dirty="0">
                <a:hlinkClick r:id="rId13"/>
              </a:rPr>
              <a:t>Link </a:t>
            </a:r>
            <a:r>
              <a:rPr lang="en-ID" sz="1000" dirty="0" err="1">
                <a:hlinkClick r:id="rId13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Fundamental SQL Using SELECT Statement – </a:t>
            </a:r>
            <a:r>
              <a:rPr lang="en-ID" sz="1000" dirty="0" err="1"/>
              <a:t>DQLab</a:t>
            </a:r>
            <a:r>
              <a:rPr lang="en-ID" sz="1000" dirty="0"/>
              <a:t> (November 2024) | </a:t>
            </a:r>
            <a:r>
              <a:rPr lang="en-ID" sz="1000" dirty="0">
                <a:hlinkClick r:id="rId14"/>
              </a:rPr>
              <a:t>Link </a:t>
            </a:r>
            <a:r>
              <a:rPr lang="en-ID" sz="1000" dirty="0" err="1">
                <a:hlinkClick r:id="rId14"/>
              </a:rPr>
              <a:t>Sertifikasi</a:t>
            </a:r>
            <a:r>
              <a:rPr lang="en-ID" sz="1000" dirty="0">
                <a:hlinkClick r:id="rId14"/>
              </a:rPr>
              <a:t> 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R Fundamental for Data Science – </a:t>
            </a:r>
            <a:r>
              <a:rPr lang="en-ID" sz="1000" dirty="0" err="1"/>
              <a:t>DQLab</a:t>
            </a:r>
            <a:r>
              <a:rPr lang="en-ID" sz="1000" dirty="0"/>
              <a:t> (November 2024) | </a:t>
            </a:r>
            <a:r>
              <a:rPr lang="en-ID" sz="1000" dirty="0">
                <a:hlinkClick r:id="rId15"/>
              </a:rPr>
              <a:t>Link </a:t>
            </a:r>
            <a:r>
              <a:rPr lang="en-ID" sz="1000" dirty="0" err="1">
                <a:hlinkClick r:id="rId15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Data Science – </a:t>
            </a:r>
            <a:r>
              <a:rPr lang="en-ID" sz="1000" dirty="0" err="1"/>
              <a:t>Dicoding</a:t>
            </a:r>
            <a:r>
              <a:rPr lang="en-ID" sz="1000" dirty="0"/>
              <a:t> Indonesia (September 2024) | </a:t>
            </a:r>
            <a:r>
              <a:rPr lang="en-ID" sz="1000" dirty="0">
                <a:hlinkClick r:id="rId16"/>
              </a:rPr>
              <a:t>Link </a:t>
            </a:r>
            <a:r>
              <a:rPr lang="en-ID" sz="1000" dirty="0" err="1">
                <a:hlinkClick r:id="rId16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Data Analysis: </a:t>
            </a:r>
            <a:r>
              <a:rPr lang="en-ID" sz="1000" dirty="0" err="1"/>
              <a:t>Fullstack</a:t>
            </a:r>
            <a:r>
              <a:rPr lang="en-ID" sz="1000" dirty="0"/>
              <a:t> Intensive Bootcamp – </a:t>
            </a:r>
            <a:r>
              <a:rPr lang="en-ID" sz="1000" dirty="0" err="1"/>
              <a:t>MySkill</a:t>
            </a:r>
            <a:r>
              <a:rPr lang="en-ID" sz="1000" dirty="0"/>
              <a:t> (Maret – Mei 2024) | </a:t>
            </a:r>
            <a:r>
              <a:rPr lang="en-ID" sz="1000" dirty="0">
                <a:hlinkClick r:id="rId17"/>
              </a:rPr>
              <a:t>Link </a:t>
            </a:r>
            <a:r>
              <a:rPr lang="en-ID" sz="1000" dirty="0" err="1">
                <a:hlinkClick r:id="rId17"/>
              </a:rPr>
              <a:t>Sertifikasi</a:t>
            </a:r>
            <a:r>
              <a:rPr lang="en-ID" sz="1000" dirty="0">
                <a:hlinkClick r:id="rId17"/>
              </a:rPr>
              <a:t> 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Mini Course Data Analytics – </a:t>
            </a:r>
            <a:r>
              <a:rPr lang="en-ID" sz="1000" dirty="0" err="1"/>
              <a:t>RevoU</a:t>
            </a:r>
            <a:r>
              <a:rPr lang="en-ID" sz="1000" dirty="0"/>
              <a:t> (September 2023) | </a:t>
            </a:r>
            <a:r>
              <a:rPr lang="en-ID" sz="1000" dirty="0">
                <a:hlinkClick r:id="rId18"/>
              </a:rPr>
              <a:t>Link </a:t>
            </a:r>
            <a:r>
              <a:rPr lang="en-ID" sz="1000" dirty="0" err="1">
                <a:hlinkClick r:id="rId18"/>
              </a:rPr>
              <a:t>Sertifikasi</a:t>
            </a:r>
            <a:endParaRPr lang="en-ID" sz="1000" dirty="0"/>
          </a:p>
          <a:p>
            <a:pPr marL="171450" indent="-171450" algn="just">
              <a:lnSpc>
                <a:spcPct val="15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D" sz="1000" dirty="0"/>
              <a:t>Short Class Data Analysis – </a:t>
            </a:r>
            <a:r>
              <a:rPr lang="en-ID" sz="1000" dirty="0" err="1"/>
              <a:t>MySkill</a:t>
            </a:r>
            <a:r>
              <a:rPr lang="en-ID" sz="1000" dirty="0"/>
              <a:t> (Agustus 2023) | </a:t>
            </a:r>
            <a:r>
              <a:rPr lang="en-ID" sz="1000" dirty="0">
                <a:hlinkClick r:id="rId19"/>
              </a:rPr>
              <a:t>Link </a:t>
            </a:r>
            <a:r>
              <a:rPr lang="en-ID" sz="1000" dirty="0" err="1">
                <a:hlinkClick r:id="rId19"/>
              </a:rPr>
              <a:t>Sertifikasi</a:t>
            </a:r>
            <a:endParaRPr lang="en-ID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340500" y="1617658"/>
            <a:ext cx="56046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ID" dirty="0"/>
              <a:t>Bank </a:t>
            </a:r>
            <a:r>
              <a:rPr lang="en-ID" dirty="0" err="1"/>
              <a:t>Muamalat</a:t>
            </a:r>
            <a:r>
              <a:rPr lang="en-ID" dirty="0"/>
              <a:t> Indonesia </a:t>
            </a:r>
            <a:r>
              <a:rPr lang="en-ID" dirty="0" err="1"/>
              <a:t>adalah</a:t>
            </a:r>
            <a:r>
              <a:rPr lang="en-ID" dirty="0"/>
              <a:t> bank syariah </a:t>
            </a:r>
            <a:r>
              <a:rPr lang="en-ID" dirty="0" err="1"/>
              <a:t>pertama</a:t>
            </a:r>
            <a:r>
              <a:rPr lang="en-ID" dirty="0"/>
              <a:t> di Indonesia yang </a:t>
            </a:r>
            <a:r>
              <a:rPr lang="en-ID" dirty="0" err="1"/>
              <a:t>berdiri</a:t>
            </a:r>
            <a:r>
              <a:rPr lang="en-ID" dirty="0"/>
              <a:t> </a:t>
            </a:r>
            <a:r>
              <a:rPr lang="en-ID" dirty="0" err="1"/>
              <a:t>sejak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1991.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pelopor</a:t>
            </a:r>
            <a:r>
              <a:rPr lang="en-ID" dirty="0"/>
              <a:t> </a:t>
            </a:r>
            <a:r>
              <a:rPr lang="en-ID" dirty="0" err="1"/>
              <a:t>perbankan</a:t>
            </a:r>
            <a:r>
              <a:rPr lang="en-ID" dirty="0"/>
              <a:t> syariah, Bank </a:t>
            </a:r>
            <a:r>
              <a:rPr lang="en-ID" dirty="0" err="1"/>
              <a:t>Muamalat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</a:t>
            </a:r>
            <a:r>
              <a:rPr lang="en-ID" dirty="0" err="1"/>
              <a:t>keuangan</a:t>
            </a:r>
            <a:r>
              <a:rPr lang="en-ID" dirty="0"/>
              <a:t> yang </a:t>
            </a:r>
            <a:r>
              <a:rPr lang="en-ID" dirty="0" err="1"/>
              <a:t>berlandaskan</a:t>
            </a:r>
            <a:r>
              <a:rPr lang="en-ID" dirty="0"/>
              <a:t> </a:t>
            </a:r>
            <a:r>
              <a:rPr lang="en-ID" dirty="0" err="1"/>
              <a:t>prinsip</a:t>
            </a:r>
            <a:r>
              <a:rPr lang="en-ID" dirty="0"/>
              <a:t> syariah,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tabungan</a:t>
            </a:r>
            <a:r>
              <a:rPr lang="en-ID" dirty="0"/>
              <a:t>, </a:t>
            </a:r>
            <a:r>
              <a:rPr lang="en-ID" dirty="0" err="1"/>
              <a:t>pembiayaan</a:t>
            </a:r>
            <a:r>
              <a:rPr lang="en-ID" dirty="0"/>
              <a:t>,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layanan</a:t>
            </a:r>
            <a:r>
              <a:rPr lang="en-ID" dirty="0"/>
              <a:t> digital. Seiring </a:t>
            </a:r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, Bank </a:t>
            </a:r>
            <a:r>
              <a:rPr lang="en-ID" dirty="0" err="1"/>
              <a:t>Muamalat</a:t>
            </a:r>
            <a:r>
              <a:rPr lang="en-ID" dirty="0"/>
              <a:t> juga </a:t>
            </a:r>
            <a:r>
              <a:rPr lang="en-ID" dirty="0" err="1"/>
              <a:t>aktif</a:t>
            </a:r>
            <a:r>
              <a:rPr lang="en-ID" dirty="0"/>
              <a:t> </a:t>
            </a:r>
            <a:r>
              <a:rPr lang="en-ID" dirty="0" err="1"/>
              <a:t>mendorong</a:t>
            </a:r>
            <a:r>
              <a:rPr lang="en-ID" dirty="0"/>
              <a:t> </a:t>
            </a:r>
            <a:r>
              <a:rPr lang="en-ID" dirty="0" err="1"/>
              <a:t>inovasi</a:t>
            </a:r>
            <a:r>
              <a:rPr lang="en-ID" dirty="0"/>
              <a:t> dan </a:t>
            </a:r>
            <a:r>
              <a:rPr lang="en-ID" dirty="0" err="1"/>
              <a:t>membangun</a:t>
            </a:r>
            <a:r>
              <a:rPr lang="en-ID" dirty="0"/>
              <a:t> </a:t>
            </a:r>
            <a:r>
              <a:rPr lang="en-ID" dirty="0" err="1"/>
              <a:t>talenta</a:t>
            </a:r>
            <a:r>
              <a:rPr lang="en-ID" dirty="0"/>
              <a:t> </a:t>
            </a:r>
            <a:r>
              <a:rPr lang="en-ID" dirty="0" err="1"/>
              <a:t>muda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program Virtual Internship Experience (VIX), </a:t>
            </a:r>
            <a:r>
              <a:rPr lang="en-ID" dirty="0" err="1"/>
              <a:t>termasuk</a:t>
            </a:r>
            <a:r>
              <a:rPr lang="en-ID" dirty="0"/>
              <a:t> di </a:t>
            </a:r>
            <a:r>
              <a:rPr lang="en-ID" dirty="0" err="1"/>
              <a:t>bidang</a:t>
            </a:r>
            <a:r>
              <a:rPr lang="en-ID" dirty="0"/>
              <a:t> Business Intelligence Analyst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transformasi</a:t>
            </a:r>
            <a:r>
              <a:rPr lang="en-ID" dirty="0"/>
              <a:t> digital dan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data.</a:t>
            </a:r>
          </a:p>
        </p:txBody>
      </p:sp>
      <p:sp>
        <p:nvSpPr>
          <p:cNvPr id="102" name="Google Shape;102;p17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About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Company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2" name="object 13">
            <a:extLst>
              <a:ext uri="{FF2B5EF4-FFF2-40B4-BE49-F238E27FC236}">
                <a16:creationId xmlns:a16="http://schemas.microsoft.com/office/drawing/2014/main" id="{469D2D84-46B7-96BA-23E5-4FB58110A21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6238" y="2151269"/>
            <a:ext cx="2756624" cy="646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340500" y="1178963"/>
            <a:ext cx="83403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ID" sz="1200" b="1" dirty="0" err="1"/>
              <a:t>Deskripsi</a:t>
            </a:r>
            <a:r>
              <a:rPr lang="en-ID" sz="1200" b="1" dirty="0"/>
              <a:t> Project:</a:t>
            </a:r>
          </a:p>
          <a:p>
            <a:pPr algn="just"/>
            <a:r>
              <a:rPr lang="en-ID" sz="1200" dirty="0"/>
              <a:t>Project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bertujuan</a:t>
            </a:r>
            <a:r>
              <a:rPr lang="en-ID" sz="1200" dirty="0"/>
              <a:t> </a:t>
            </a:r>
            <a:r>
              <a:rPr lang="en-ID" sz="1200" dirty="0" err="1"/>
              <a:t>menganalisis</a:t>
            </a:r>
            <a:r>
              <a:rPr lang="en-ID" sz="1200" dirty="0"/>
              <a:t> data </a:t>
            </a:r>
            <a:r>
              <a:rPr lang="en-ID" sz="1200" dirty="0" err="1"/>
              <a:t>penjualan</a:t>
            </a:r>
            <a:r>
              <a:rPr lang="en-ID" sz="1200" dirty="0"/>
              <a:t> PT Sejahtera Bersama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menggabungkan</a:t>
            </a:r>
            <a:r>
              <a:rPr lang="en-ID" sz="1200" dirty="0"/>
              <a:t> </a:t>
            </a:r>
            <a:r>
              <a:rPr lang="en-ID" sz="1200" dirty="0" err="1"/>
              <a:t>empat</a:t>
            </a:r>
            <a:r>
              <a:rPr lang="en-ID" sz="1200" dirty="0"/>
              <a:t> dataset (customers, orders, products, dan product category) </a:t>
            </a:r>
            <a:r>
              <a:rPr lang="en-ID" sz="1200" dirty="0" err="1"/>
              <a:t>menggunakan</a:t>
            </a:r>
            <a:r>
              <a:rPr lang="en-ID" sz="1200" dirty="0"/>
              <a:t> </a:t>
            </a:r>
            <a:r>
              <a:rPr lang="en-ID" sz="1200" dirty="0" err="1"/>
              <a:t>BigQuery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membentuk</a:t>
            </a:r>
            <a:r>
              <a:rPr lang="en-ID" sz="1200" dirty="0"/>
              <a:t> master table. </a:t>
            </a:r>
            <a:r>
              <a:rPr lang="en-ID" sz="1200" dirty="0" err="1"/>
              <a:t>Hasilnya</a:t>
            </a:r>
            <a:r>
              <a:rPr lang="en-ID" sz="1200" dirty="0"/>
              <a:t> </a:t>
            </a:r>
            <a:r>
              <a:rPr lang="en-ID" sz="1200" dirty="0" err="1"/>
              <a:t>kemudian</a:t>
            </a:r>
            <a:r>
              <a:rPr lang="en-ID" sz="1200" dirty="0"/>
              <a:t> </a:t>
            </a:r>
            <a:r>
              <a:rPr lang="en-ID" sz="1200" dirty="0" err="1"/>
              <a:t>divisualisasikan</a:t>
            </a:r>
            <a:r>
              <a:rPr lang="en-ID" sz="1200" dirty="0"/>
              <a:t> di Looker Studio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melihat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dirty="0" err="1"/>
              <a:t>berdasarkan</a:t>
            </a:r>
            <a:r>
              <a:rPr lang="en-ID" sz="1200" dirty="0"/>
              <a:t> </a:t>
            </a: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dan </a:t>
            </a:r>
            <a:r>
              <a:rPr lang="en-ID" sz="1200" dirty="0" err="1"/>
              <a:t>kota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.</a:t>
            </a:r>
          </a:p>
          <a:p>
            <a:pPr algn="just"/>
            <a:endParaRPr lang="en-ID" sz="1200" b="1" dirty="0"/>
          </a:p>
          <a:p>
            <a:r>
              <a:rPr lang="en-ID" sz="1200" b="1" dirty="0"/>
              <a:t>Problem Statement:</a:t>
            </a:r>
          </a:p>
          <a:p>
            <a:pPr algn="just"/>
            <a:r>
              <a:rPr lang="en-ID" sz="1200" dirty="0" err="1"/>
              <a:t>Bagaimana</a:t>
            </a:r>
            <a:r>
              <a:rPr lang="en-ID" sz="1200" dirty="0"/>
              <a:t> PT Sejahtera Bersama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memahami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</a:t>
            </a:r>
            <a:r>
              <a:rPr lang="en-ID" sz="1200" dirty="0" err="1"/>
              <a:t>penjualannya</a:t>
            </a:r>
            <a:r>
              <a:rPr lang="en-ID" sz="1200" dirty="0"/>
              <a:t>, </a:t>
            </a:r>
            <a:r>
              <a:rPr lang="en-ID" sz="1200" dirty="0" err="1"/>
              <a:t>termaksud</a:t>
            </a:r>
            <a:r>
              <a:rPr lang="en-ID" sz="1200" dirty="0"/>
              <a:t> </a:t>
            </a:r>
            <a:r>
              <a:rPr lang="en-ID" sz="1200" dirty="0" err="1"/>
              <a:t>tren</a:t>
            </a:r>
            <a:r>
              <a:rPr lang="en-ID" sz="1200" dirty="0"/>
              <a:t> per </a:t>
            </a:r>
            <a:r>
              <a:rPr lang="en-ID" sz="1200" dirty="0" err="1"/>
              <a:t>kategori</a:t>
            </a:r>
            <a:r>
              <a:rPr lang="en-ID" sz="1200" dirty="0"/>
              <a:t>, </a:t>
            </a:r>
            <a:r>
              <a:rPr lang="en-ID" sz="1200" dirty="0" err="1"/>
              <a:t>jumlah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</a:t>
            </a:r>
            <a:r>
              <a:rPr lang="en-ID" sz="1200" dirty="0" err="1"/>
              <a:t>terjual</a:t>
            </a:r>
            <a:r>
              <a:rPr lang="en-ID" sz="1200" dirty="0"/>
              <a:t> dan </a:t>
            </a:r>
            <a:r>
              <a:rPr lang="en-ID" sz="1200" dirty="0" err="1"/>
              <a:t>kontribusi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dirty="0" err="1"/>
              <a:t>tiap</a:t>
            </a:r>
            <a:r>
              <a:rPr lang="en-ID" sz="1200" dirty="0"/>
              <a:t> </a:t>
            </a:r>
            <a:r>
              <a:rPr lang="en-ID" sz="1200" dirty="0" err="1"/>
              <a:t>kota</a:t>
            </a:r>
            <a:r>
              <a:rPr lang="en-ID" sz="1200" dirty="0"/>
              <a:t>, agar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mengambil</a:t>
            </a:r>
            <a:r>
              <a:rPr lang="en-ID" sz="1200" dirty="0"/>
              <a:t> </a:t>
            </a:r>
            <a:r>
              <a:rPr lang="en-ID" sz="1200" dirty="0" err="1"/>
              <a:t>keputusan</a:t>
            </a:r>
            <a:r>
              <a:rPr lang="en-ID" sz="1200" dirty="0"/>
              <a:t> yang </a:t>
            </a:r>
            <a:r>
              <a:rPr lang="en-ID" sz="1200" dirty="0" err="1"/>
              <a:t>tepat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mempertahankan</a:t>
            </a:r>
            <a:r>
              <a:rPr lang="en-ID" sz="1200" dirty="0"/>
              <a:t> dan </a:t>
            </a:r>
            <a:r>
              <a:rPr lang="en-ID" sz="1200" dirty="0" err="1"/>
              <a:t>meningkatkan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?</a:t>
            </a:r>
          </a:p>
          <a:p>
            <a:pPr algn="just"/>
            <a:endParaRPr lang="en-ID" sz="1200" b="1" dirty="0"/>
          </a:p>
          <a:p>
            <a:pPr algn="just"/>
            <a:r>
              <a:rPr lang="en-ID" sz="1200" b="1" dirty="0"/>
              <a:t>Output yang </a:t>
            </a:r>
            <a:r>
              <a:rPr lang="en-ID" sz="1200" b="1" dirty="0" err="1"/>
              <a:t>dihasilkan</a:t>
            </a:r>
            <a:r>
              <a:rPr lang="en-ID" sz="1200" b="1" dirty="0"/>
              <a:t>:</a:t>
            </a:r>
            <a:endParaRPr lang="en-ID" sz="1200" dirty="0"/>
          </a:p>
          <a:p>
            <a:pPr algn="just"/>
            <a:r>
              <a:rPr lang="en-ID" sz="1200" dirty="0"/>
              <a:t>Output project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berupa</a:t>
            </a:r>
            <a:r>
              <a:rPr lang="en-ID" sz="1200" dirty="0"/>
              <a:t> master table </a:t>
            </a:r>
            <a:r>
              <a:rPr lang="en-ID" sz="1200" dirty="0" err="1"/>
              <a:t>dalam</a:t>
            </a:r>
            <a:r>
              <a:rPr lang="en-ID" sz="1200" dirty="0"/>
              <a:t> format CSV </a:t>
            </a:r>
            <a:r>
              <a:rPr lang="en-ID" sz="1200" dirty="0" err="1"/>
              <a:t>hasil</a:t>
            </a:r>
            <a:r>
              <a:rPr lang="en-ID" sz="1200" dirty="0"/>
              <a:t> </a:t>
            </a:r>
            <a:r>
              <a:rPr lang="en-ID" sz="1200" dirty="0" err="1"/>
              <a:t>penggabungan</a:t>
            </a:r>
            <a:r>
              <a:rPr lang="en-ID" sz="1200" dirty="0"/>
              <a:t> </a:t>
            </a:r>
            <a:r>
              <a:rPr lang="en-ID" sz="1200" dirty="0" err="1"/>
              <a:t>empat</a:t>
            </a:r>
            <a:r>
              <a:rPr lang="en-ID" sz="1200" dirty="0"/>
              <a:t> </a:t>
            </a:r>
            <a:r>
              <a:rPr lang="en-ID" sz="1200" dirty="0" err="1"/>
              <a:t>tabel</a:t>
            </a:r>
            <a:r>
              <a:rPr lang="en-ID" sz="1200" dirty="0"/>
              <a:t> di </a:t>
            </a:r>
            <a:r>
              <a:rPr lang="en-ID" sz="1200" dirty="0" err="1"/>
              <a:t>BigQuery</a:t>
            </a:r>
            <a:r>
              <a:rPr lang="en-ID" sz="1200" dirty="0"/>
              <a:t>, </a:t>
            </a:r>
            <a:r>
              <a:rPr lang="en-ID" sz="1200" dirty="0" err="1"/>
              <a:t>serta</a:t>
            </a:r>
            <a:r>
              <a:rPr lang="en-ID" sz="1200" dirty="0"/>
              <a:t> dashboard Looker Studio yang </a:t>
            </a:r>
            <a:r>
              <a:rPr lang="en-ID" sz="1200" dirty="0" err="1"/>
              <a:t>menampilkan</a:t>
            </a:r>
            <a:r>
              <a:rPr lang="en-ID" sz="1200" dirty="0"/>
              <a:t> </a:t>
            </a:r>
            <a:r>
              <a:rPr lang="en-ID" sz="1200" dirty="0" err="1"/>
              <a:t>ringkasan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dirty="0" err="1"/>
              <a:t>seperti</a:t>
            </a:r>
            <a:r>
              <a:rPr lang="en-ID" sz="1200" dirty="0"/>
              <a:t> total sales, total quantity, </a:t>
            </a:r>
            <a:r>
              <a:rPr lang="en-ID" sz="1200" dirty="0" err="1"/>
              <a:t>penjualan</a:t>
            </a:r>
            <a:r>
              <a:rPr lang="en-ID" sz="1200" dirty="0"/>
              <a:t> per </a:t>
            </a:r>
            <a:r>
              <a:rPr lang="en-ID" sz="1200" dirty="0" err="1"/>
              <a:t>kategori</a:t>
            </a:r>
            <a:r>
              <a:rPr lang="en-ID" sz="1200" dirty="0"/>
              <a:t>, </a:t>
            </a:r>
            <a:r>
              <a:rPr lang="en-ID" sz="1200" dirty="0" err="1"/>
              <a:t>penjualan</a:t>
            </a:r>
            <a:r>
              <a:rPr lang="en-ID" sz="1200" dirty="0"/>
              <a:t> per </a:t>
            </a:r>
            <a:r>
              <a:rPr lang="en-ID" sz="1200" dirty="0" err="1"/>
              <a:t>kota</a:t>
            </a:r>
            <a:r>
              <a:rPr lang="en-ID" sz="1200" dirty="0"/>
              <a:t>, dan top 5 </a:t>
            </a: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dirty="0" err="1"/>
              <a:t>terbaik</a:t>
            </a:r>
            <a:r>
              <a:rPr lang="en-ID" sz="1200" dirty="0"/>
              <a:t>. Dashboard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memberikan</a:t>
            </a:r>
            <a:r>
              <a:rPr lang="en-ID" sz="1200" dirty="0"/>
              <a:t> insight </a:t>
            </a:r>
            <a:r>
              <a:rPr lang="en-ID" sz="1200" dirty="0" err="1"/>
              <a:t>cepat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mendukung</a:t>
            </a:r>
            <a:r>
              <a:rPr lang="en-ID" sz="1200" dirty="0"/>
              <a:t> </a:t>
            </a:r>
            <a:r>
              <a:rPr lang="en-ID" sz="1200" dirty="0" err="1"/>
              <a:t>keputusan</a:t>
            </a:r>
            <a:r>
              <a:rPr lang="en-ID" sz="1200" dirty="0"/>
              <a:t> </a:t>
            </a:r>
            <a:r>
              <a:rPr lang="en-ID" sz="1200" dirty="0" err="1"/>
              <a:t>bisnis</a:t>
            </a:r>
            <a:r>
              <a:rPr lang="en-ID" sz="1200" dirty="0"/>
              <a:t>.</a:t>
            </a:r>
          </a:p>
        </p:txBody>
      </p:sp>
      <p:sp>
        <p:nvSpPr>
          <p:cNvPr id="112" name="Google Shape;112;p18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i="0" u="none" strike="noStrike" cap="non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</a:t>
            </a:r>
            <a:r>
              <a:rPr lang="en" sz="3000" b="1" i="0" u="none" strike="noStrike" cap="none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Portfolio</a:t>
            </a:r>
            <a:endParaRPr sz="3000" b="1" i="0" u="none" strike="noStrike" cap="none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6138708" y="4233250"/>
            <a:ext cx="30891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Project explanation video </a:t>
            </a:r>
            <a:r>
              <a:rPr lang="en" sz="1200" b="1" i="0" u="none" strike="noStrike" cap="none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  <a:hlinkClick r:id="rId5"/>
              </a:rPr>
              <a:t>here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!</a:t>
            </a:r>
            <a:endParaRPr sz="12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340500" y="4230554"/>
            <a:ext cx="3423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Link Looker Studio </a:t>
            </a:r>
            <a:r>
              <a:rPr lang="en" sz="1200" b="1" dirty="0">
                <a:solidFill>
                  <a:srgbClr val="0097A7"/>
                </a:solidFill>
                <a:latin typeface="Rubik"/>
                <a:ea typeface="Rubik"/>
                <a:cs typeface="Rubik"/>
                <a:sym typeface="Rubik"/>
                <a:hlinkClick r:id="rId6"/>
              </a:rPr>
              <a:t>here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!</a:t>
            </a:r>
            <a:endParaRPr sz="12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" name="Google Shape;114;p18">
            <a:extLst>
              <a:ext uri="{FF2B5EF4-FFF2-40B4-BE49-F238E27FC236}">
                <a16:creationId xmlns:a16="http://schemas.microsoft.com/office/drawing/2014/main" id="{05877338-356C-64DA-09A8-593E4FF93CA4}"/>
              </a:ext>
            </a:extLst>
          </p:cNvPr>
          <p:cNvSpPr txBox="1"/>
          <p:nvPr/>
        </p:nvSpPr>
        <p:spPr>
          <a:xfrm>
            <a:off x="3669002" y="4233250"/>
            <a:ext cx="3423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Link BigQery </a:t>
            </a:r>
            <a:r>
              <a:rPr lang="en" sz="1200" b="1" dirty="0">
                <a:solidFill>
                  <a:srgbClr val="0097A7"/>
                </a:solidFill>
                <a:latin typeface="Rubik"/>
                <a:ea typeface="Rubik"/>
                <a:cs typeface="Rubik"/>
                <a:sym typeface="Rubik"/>
                <a:hlinkClick r:id="rId7"/>
              </a:rPr>
              <a:t>here</a:t>
            </a:r>
            <a:r>
              <a:rPr lang="en" sz="1200" b="1" dirty="0">
                <a:latin typeface="Rubik"/>
                <a:ea typeface="Rubik"/>
                <a:cs typeface="Rubik"/>
                <a:sym typeface="Rubik"/>
              </a:rPr>
              <a:t>!</a:t>
            </a:r>
            <a:endParaRPr sz="1200" b="1" i="0" u="none" strike="noStrike" cap="none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21123476-FBA1-8D9D-A1D0-8A5E72D3C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A712524E-E0C3-8732-785A-07A37921E539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74244951-4B72-31E6-62E7-86ABCCB2BF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686BDD3B-4290-1A17-399B-78222D9EAACF}"/>
              </a:ext>
            </a:extLst>
          </p:cNvPr>
          <p:cNvSpPr txBox="1"/>
          <p:nvPr/>
        </p:nvSpPr>
        <p:spPr>
          <a:xfrm>
            <a:off x="340500" y="60478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Soal 1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69;p25">
            <a:extLst>
              <a:ext uri="{FF2B5EF4-FFF2-40B4-BE49-F238E27FC236}">
                <a16:creationId xmlns:a16="http://schemas.microsoft.com/office/drawing/2014/main" id="{72B9A503-EA95-F808-E53F-43F3C8727D06}"/>
              </a:ext>
            </a:extLst>
          </p:cNvPr>
          <p:cNvSpPr txBox="1"/>
          <p:nvPr/>
        </p:nvSpPr>
        <p:spPr>
          <a:xfrm>
            <a:off x="340500" y="1146088"/>
            <a:ext cx="8463000" cy="49241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000" b="1">
                <a:latin typeface="Rubik"/>
                <a:ea typeface="Rubik"/>
                <a:cs typeface="Rubik"/>
                <a:sym typeface="Rubik"/>
              </a:rPr>
              <a:t>Primary </a:t>
            </a:r>
            <a:r>
              <a:rPr lang="en-US" sz="2000" b="1" dirty="0">
                <a:latin typeface="Rubik"/>
                <a:ea typeface="Rubik"/>
                <a:cs typeface="Rubik"/>
                <a:sym typeface="Rubik"/>
              </a:rPr>
              <a:t>Key pada masing </a:t>
            </a:r>
            <a:r>
              <a:rPr lang="en-US" sz="2000" b="1" dirty="0" err="1">
                <a:latin typeface="Rubik"/>
                <a:ea typeface="Rubik"/>
                <a:cs typeface="Rubik"/>
                <a:sym typeface="Rubik"/>
              </a:rPr>
              <a:t>masing</a:t>
            </a:r>
            <a:r>
              <a:rPr lang="en-US" sz="20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000" b="1" dirty="0" err="1">
                <a:latin typeface="Rubik"/>
                <a:ea typeface="Rubik"/>
                <a:cs typeface="Rubik"/>
                <a:sym typeface="Rubik"/>
              </a:rPr>
              <a:t>tabel</a:t>
            </a:r>
            <a:endParaRPr sz="2000" b="1" dirty="0">
              <a:latin typeface="Rubik"/>
              <a:ea typeface="Rubik"/>
              <a:cs typeface="Rubik"/>
              <a:sym typeface="Rubik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A9140AD-A93F-0B18-F558-DA0BD925C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777494"/>
              </p:ext>
            </p:extLst>
          </p:nvPr>
        </p:nvGraphicFramePr>
        <p:xfrm>
          <a:off x="1426028" y="1903184"/>
          <a:ext cx="6174922" cy="209422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3087461">
                  <a:extLst>
                    <a:ext uri="{9D8B030D-6E8A-4147-A177-3AD203B41FA5}">
                      <a16:colId xmlns:a16="http://schemas.microsoft.com/office/drawing/2014/main" val="2653200589"/>
                    </a:ext>
                  </a:extLst>
                </a:gridCol>
                <a:gridCol w="3087461">
                  <a:extLst>
                    <a:ext uri="{9D8B030D-6E8A-4147-A177-3AD203B41FA5}">
                      <a16:colId xmlns:a16="http://schemas.microsoft.com/office/drawing/2014/main" val="3585928879"/>
                    </a:ext>
                  </a:extLst>
                </a:gridCol>
              </a:tblGrid>
              <a:tr h="41884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Nama Tabel</a:t>
                      </a:r>
                      <a:endParaRPr lang="en-ID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Primary Tabel</a:t>
                      </a:r>
                      <a:endParaRPr lang="en-ID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424328"/>
                  </a:ext>
                </a:extLst>
              </a:tr>
              <a:tr h="4188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customer_id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85884"/>
                  </a:ext>
                </a:extLst>
              </a:tr>
              <a:tr h="4188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Products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product_number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197674"/>
                  </a:ext>
                </a:extLst>
              </a:tr>
              <a:tr h="4188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Orders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order_id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734851"/>
                  </a:ext>
                </a:extLst>
              </a:tr>
              <a:tr h="418845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ProductCategory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category_id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158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543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F7E256B1-0E59-37B8-662E-3BCAA4CE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325BB193-65F7-DEE7-9F19-FA7ED7CA1D72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F1AFA33B-9CDA-68A4-37D4-5EE0205589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4616150E-498F-9596-2188-EF483018745F}"/>
              </a:ext>
            </a:extLst>
          </p:cNvPr>
          <p:cNvSpPr txBox="1"/>
          <p:nvPr/>
        </p:nvSpPr>
        <p:spPr>
          <a:xfrm>
            <a:off x="1684196" y="1823382"/>
            <a:ext cx="2517000" cy="600134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Soal 2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69;p25">
            <a:extLst>
              <a:ext uri="{FF2B5EF4-FFF2-40B4-BE49-F238E27FC236}">
                <a16:creationId xmlns:a16="http://schemas.microsoft.com/office/drawing/2014/main" id="{D24E265B-F604-94FF-3DAB-B68B1666FA81}"/>
              </a:ext>
            </a:extLst>
          </p:cNvPr>
          <p:cNvSpPr txBox="1"/>
          <p:nvPr/>
        </p:nvSpPr>
        <p:spPr>
          <a:xfrm>
            <a:off x="599414" y="2325544"/>
            <a:ext cx="3390579" cy="49241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000" b="1" dirty="0">
                <a:latin typeface="Rubik"/>
                <a:ea typeface="Rubik"/>
                <a:cs typeface="Rubik"/>
                <a:sym typeface="Rubik"/>
              </a:rPr>
              <a:t>Relationship </a:t>
            </a:r>
            <a:r>
              <a:rPr lang="en-US" sz="2000" b="1" dirty="0" err="1">
                <a:latin typeface="Rubik"/>
                <a:ea typeface="Rubik"/>
                <a:cs typeface="Rubik"/>
                <a:sym typeface="Rubik"/>
              </a:rPr>
              <a:t>antar</a:t>
            </a:r>
            <a:r>
              <a:rPr lang="en-US" sz="20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000" b="1" dirty="0" err="1">
                <a:latin typeface="Rubik"/>
                <a:ea typeface="Rubik"/>
                <a:cs typeface="Rubik"/>
                <a:sym typeface="Rubik"/>
              </a:rPr>
              <a:t>tabel</a:t>
            </a:r>
            <a:endParaRPr sz="20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48208-9A12-BAAD-80C0-4DC772106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1196" y="164465"/>
            <a:ext cx="3036313" cy="488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044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56FD68E9-A02B-C460-6CD8-95F685C3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D26E0807-1164-1F1C-361A-899AA6AB13F9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BA3A75EB-D266-11D0-7C30-A207FD3C987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BA431C0B-E7CA-CA2D-4434-62E1291D23ED}"/>
              </a:ext>
            </a:extLst>
          </p:cNvPr>
          <p:cNvSpPr txBox="1"/>
          <p:nvPr/>
        </p:nvSpPr>
        <p:spPr>
          <a:xfrm>
            <a:off x="340500" y="148513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Soal 3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69;p25">
            <a:extLst>
              <a:ext uri="{FF2B5EF4-FFF2-40B4-BE49-F238E27FC236}">
                <a16:creationId xmlns:a16="http://schemas.microsoft.com/office/drawing/2014/main" id="{BEE0451B-47EC-B5B5-950D-43C4C448CCD7}"/>
              </a:ext>
            </a:extLst>
          </p:cNvPr>
          <p:cNvSpPr txBox="1"/>
          <p:nvPr/>
        </p:nvSpPr>
        <p:spPr>
          <a:xfrm>
            <a:off x="1591355" y="333532"/>
            <a:ext cx="8463000" cy="49241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000" b="1" dirty="0">
                <a:latin typeface="Rubik"/>
                <a:ea typeface="Rubik"/>
                <a:cs typeface="Rubik"/>
                <a:sym typeface="Rubik"/>
              </a:rPr>
              <a:t>Query </a:t>
            </a:r>
            <a:r>
              <a:rPr lang="en-US" sz="2000" b="1" dirty="0" err="1">
                <a:latin typeface="Rubik"/>
                <a:ea typeface="Rubik"/>
                <a:cs typeface="Rubik"/>
                <a:sym typeface="Rubik"/>
              </a:rPr>
              <a:t>Pembuatan</a:t>
            </a:r>
            <a:r>
              <a:rPr lang="en-US" sz="2000" b="1" dirty="0">
                <a:latin typeface="Rubik"/>
                <a:ea typeface="Rubik"/>
                <a:cs typeface="Rubik"/>
                <a:sym typeface="Rubik"/>
              </a:rPr>
              <a:t> Master Table </a:t>
            </a:r>
            <a:endParaRPr sz="20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8A369-B8C3-3DB1-ED8C-B8DB8547A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64" y="1097568"/>
            <a:ext cx="8094438" cy="356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8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5288531A-1ECD-02AC-A620-8F639E86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8F50E32C-92C5-7A05-3121-EEB665162237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BFA44B29-DB7B-1BD1-FC19-6EA1689F534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797B36B8-F6CD-4897-9EBB-2E925174E281}"/>
              </a:ext>
            </a:extLst>
          </p:cNvPr>
          <p:cNvSpPr txBox="1"/>
          <p:nvPr/>
        </p:nvSpPr>
        <p:spPr>
          <a:xfrm>
            <a:off x="340500" y="148513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Soal 3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69;p25">
            <a:extLst>
              <a:ext uri="{FF2B5EF4-FFF2-40B4-BE49-F238E27FC236}">
                <a16:creationId xmlns:a16="http://schemas.microsoft.com/office/drawing/2014/main" id="{B0718982-4C0E-23B2-C58D-9220607A5119}"/>
              </a:ext>
            </a:extLst>
          </p:cNvPr>
          <p:cNvSpPr txBox="1"/>
          <p:nvPr/>
        </p:nvSpPr>
        <p:spPr>
          <a:xfrm>
            <a:off x="1591355" y="333532"/>
            <a:ext cx="8463000" cy="49241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000" b="1" dirty="0">
                <a:latin typeface="Rubik"/>
                <a:ea typeface="Rubik"/>
                <a:cs typeface="Rubik"/>
                <a:sym typeface="Rubik"/>
              </a:rPr>
              <a:t>Hasil Master Table </a:t>
            </a:r>
            <a:endParaRPr sz="20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BC4BA-C65C-F184-6C1C-C8179838A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00" y="825944"/>
            <a:ext cx="4741145" cy="2059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2D2FF0-57C7-23AE-1F1C-3BB3CCE4AB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2355" y="2898252"/>
            <a:ext cx="4741145" cy="205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3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C363EE0F-6CAD-5B78-A163-8F5A92E4C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34EF5A53-531C-A727-64F0-C08BF34AFA41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DADDB858-1AD4-4804-75DE-11E8FAD3CAE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316059EE-AD8D-8F49-92FD-79FB07675D23}"/>
              </a:ext>
            </a:extLst>
          </p:cNvPr>
          <p:cNvSpPr txBox="1"/>
          <p:nvPr/>
        </p:nvSpPr>
        <p:spPr>
          <a:xfrm>
            <a:off x="7516152" y="1725410"/>
            <a:ext cx="2402700" cy="600134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Soal 4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2" name="Google Shape;169;p25">
            <a:extLst>
              <a:ext uri="{FF2B5EF4-FFF2-40B4-BE49-F238E27FC236}">
                <a16:creationId xmlns:a16="http://schemas.microsoft.com/office/drawing/2014/main" id="{C3D342C6-4B51-A884-82C8-BB12A07CCA8A}"/>
              </a:ext>
            </a:extLst>
          </p:cNvPr>
          <p:cNvSpPr txBox="1"/>
          <p:nvPr/>
        </p:nvSpPr>
        <p:spPr>
          <a:xfrm>
            <a:off x="7347857" y="2325544"/>
            <a:ext cx="2917050" cy="492412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000" b="1" dirty="0" err="1">
                <a:latin typeface="Rubik"/>
                <a:ea typeface="Rubik"/>
                <a:cs typeface="Rubik"/>
                <a:sym typeface="Rubik"/>
              </a:rPr>
              <a:t>Visualisasi</a:t>
            </a:r>
            <a:endParaRPr sz="2000" b="1" dirty="0"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4DEF4-A68E-5B29-922D-7B042C831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618" y="244929"/>
            <a:ext cx="6626518" cy="473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43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C3A1243A-7479-B452-5C9D-4F0E92F2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4EB90C63-6B33-D753-EA99-AE78B76C02D1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35026D01-07FC-FD10-84FC-796F4955778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9C117B81-2EF6-72E1-CEEE-F0B61CCF14D0}"/>
              </a:ext>
            </a:extLst>
          </p:cNvPr>
          <p:cNvSpPr txBox="1"/>
          <p:nvPr/>
        </p:nvSpPr>
        <p:spPr>
          <a:xfrm>
            <a:off x="340500" y="456275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" sz="2700" b="1" dirty="0">
                <a:latin typeface="Rubik"/>
                <a:ea typeface="Rubik"/>
                <a:cs typeface="Rubik"/>
                <a:sym typeface="Rubik"/>
              </a:rPr>
              <a:t>Insight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0" name="Google Shape;170;p25">
            <a:extLst>
              <a:ext uri="{FF2B5EF4-FFF2-40B4-BE49-F238E27FC236}">
                <a16:creationId xmlns:a16="http://schemas.microsoft.com/office/drawing/2014/main" id="{32AB9805-43B0-EC4D-5397-B5CE371033AB}"/>
              </a:ext>
            </a:extLst>
          </p:cNvPr>
          <p:cNvSpPr txBox="1"/>
          <p:nvPr/>
        </p:nvSpPr>
        <p:spPr>
          <a:xfrm>
            <a:off x="340500" y="1071798"/>
            <a:ext cx="8463000" cy="415495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Total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penjualan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perusahaan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cukup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besar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yaitu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1,754,750.57.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Pendapatan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terbesar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datang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dari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kategori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Robots dan Drones.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 err="1"/>
              <a:t>Produk</a:t>
            </a:r>
            <a:r>
              <a:rPr lang="en-ID" sz="1200" dirty="0"/>
              <a:t> digital </a:t>
            </a:r>
            <a:r>
              <a:rPr lang="en-ID" sz="1200" dirty="0" err="1"/>
              <a:t>seperti</a:t>
            </a:r>
            <a:r>
              <a:rPr lang="en-ID" sz="1200" dirty="0"/>
              <a:t> eBooks dan Training Videos </a:t>
            </a:r>
            <a:r>
              <a:rPr lang="en-ID" sz="1200" dirty="0" err="1"/>
              <a:t>memang</a:t>
            </a:r>
            <a:r>
              <a:rPr lang="en-ID" sz="1200" dirty="0"/>
              <a:t> </a:t>
            </a:r>
            <a:r>
              <a:rPr lang="en-ID" sz="1200" dirty="0" err="1"/>
              <a:t>menjadi</a:t>
            </a:r>
            <a:r>
              <a:rPr lang="en-ID" sz="1200" dirty="0"/>
              <a:t> </a:t>
            </a: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jumlah</a:t>
            </a:r>
            <a:r>
              <a:rPr lang="en-ID" sz="1200" dirty="0"/>
              <a:t> </a:t>
            </a:r>
            <a:r>
              <a:rPr lang="en-ID" sz="1200" dirty="0" err="1"/>
              <a:t>pembelian</a:t>
            </a:r>
            <a:r>
              <a:rPr lang="en-ID" sz="1200" dirty="0"/>
              <a:t> </a:t>
            </a:r>
            <a:r>
              <a:rPr lang="en-ID" sz="1200" dirty="0" err="1"/>
              <a:t>terbanyak</a:t>
            </a:r>
            <a:r>
              <a:rPr lang="en-ID" sz="1200" dirty="0"/>
              <a:t>, </a:t>
            </a:r>
            <a:r>
              <a:rPr lang="en-ID" sz="1200" dirty="0" err="1"/>
              <a:t>tetapi</a:t>
            </a:r>
            <a:r>
              <a:rPr lang="en-ID" sz="1200" dirty="0"/>
              <a:t> </a:t>
            </a:r>
            <a:r>
              <a:rPr lang="en-ID" sz="1200" dirty="0" err="1"/>
              <a:t>nilai</a:t>
            </a:r>
            <a:r>
              <a:rPr lang="en-ID" sz="1200" dirty="0"/>
              <a:t> </a:t>
            </a:r>
            <a:r>
              <a:rPr lang="en-ID" sz="1200" dirty="0" err="1"/>
              <a:t>penjualannya</a:t>
            </a:r>
            <a:r>
              <a:rPr lang="en-ID" sz="1200" dirty="0"/>
              <a:t> </a:t>
            </a:r>
            <a:r>
              <a:rPr lang="en-ID" sz="1200" dirty="0" err="1"/>
              <a:t>rendah</a:t>
            </a:r>
            <a:r>
              <a:rPr lang="en-ID" sz="1200" dirty="0"/>
              <a:t> </a:t>
            </a:r>
            <a:r>
              <a:rPr lang="en-ID" sz="1200" dirty="0" err="1"/>
              <a:t>karena</a:t>
            </a:r>
            <a:r>
              <a:rPr lang="en-ID" sz="1200" dirty="0"/>
              <a:t> </a:t>
            </a:r>
            <a:r>
              <a:rPr lang="en-ID" sz="1200" dirty="0" err="1"/>
              <a:t>harga</a:t>
            </a:r>
            <a:r>
              <a:rPr lang="en-ID" sz="1200" dirty="0"/>
              <a:t> </a:t>
            </a:r>
            <a:r>
              <a:rPr lang="en-ID" sz="1200" dirty="0" err="1"/>
              <a:t>produknya</a:t>
            </a:r>
            <a:r>
              <a:rPr lang="en-ID" sz="1200" dirty="0"/>
              <a:t> </a:t>
            </a:r>
            <a:r>
              <a:rPr lang="en-ID" sz="1200" dirty="0" err="1"/>
              <a:t>relatif</a:t>
            </a:r>
            <a:r>
              <a:rPr lang="en-ID" sz="1200" dirty="0"/>
              <a:t> </a:t>
            </a:r>
            <a:r>
              <a:rPr lang="en-ID" sz="1200" dirty="0" err="1"/>
              <a:t>murah</a:t>
            </a:r>
            <a:r>
              <a:rPr lang="en-ID" sz="1200" dirty="0"/>
              <a:t>. </a:t>
            </a:r>
            <a:r>
              <a:rPr lang="en-ID" sz="1200" b="1" dirty="0" err="1"/>
              <a:t>Rekomendasi</a:t>
            </a:r>
            <a:r>
              <a:rPr lang="en-ID" sz="1200" b="1" dirty="0"/>
              <a:t> </a:t>
            </a:r>
            <a:r>
              <a:rPr lang="en-ID" sz="1200" b="1" dirty="0" err="1"/>
              <a:t>tambahan</a:t>
            </a:r>
            <a:r>
              <a:rPr lang="en-ID" sz="1200" b="1" dirty="0"/>
              <a:t>:</a:t>
            </a:r>
            <a:r>
              <a:rPr lang="en-ID" sz="1200" dirty="0"/>
              <a:t> Perusahaan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menerapkan</a:t>
            </a:r>
            <a:r>
              <a:rPr lang="en-ID" sz="1200" dirty="0"/>
              <a:t> strategi </a:t>
            </a:r>
            <a:r>
              <a:rPr lang="en-ID" sz="1200" i="1" dirty="0"/>
              <a:t>upselling</a:t>
            </a:r>
            <a:r>
              <a:rPr lang="en-ID" sz="1200" dirty="0"/>
              <a:t>, </a:t>
            </a:r>
            <a:r>
              <a:rPr lang="en-ID" sz="1200" dirty="0" err="1"/>
              <a:t>misalnya</a:t>
            </a:r>
            <a:r>
              <a:rPr lang="en-ID" sz="1200" dirty="0"/>
              <a:t> </a:t>
            </a:r>
            <a:r>
              <a:rPr lang="en-ID" sz="1200" dirty="0" err="1"/>
              <a:t>menawarkan</a:t>
            </a:r>
            <a:r>
              <a:rPr lang="en-ID" sz="1200" dirty="0"/>
              <a:t> </a:t>
            </a:r>
            <a:r>
              <a:rPr lang="en-ID" sz="1200" dirty="0" err="1"/>
              <a:t>versi</a:t>
            </a:r>
            <a:r>
              <a:rPr lang="en-ID" sz="1200" dirty="0"/>
              <a:t> premium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konten</a:t>
            </a:r>
            <a:r>
              <a:rPr lang="en-ID" sz="1200" dirty="0"/>
              <a:t> </a:t>
            </a:r>
            <a:r>
              <a:rPr lang="en-ID" sz="1200" dirty="0" err="1"/>
              <a:t>lanjutan</a:t>
            </a:r>
            <a:r>
              <a:rPr lang="en-ID" sz="1200" dirty="0"/>
              <a:t> </a:t>
            </a:r>
            <a:r>
              <a:rPr lang="en-ID" sz="1200" dirty="0" err="1"/>
              <a:t>berbayar</a:t>
            </a:r>
            <a:r>
              <a:rPr lang="en-ID" sz="1200" dirty="0"/>
              <a:t>. Selain </a:t>
            </a:r>
            <a:r>
              <a:rPr lang="en-ID" sz="1200" dirty="0" err="1"/>
              <a:t>itu</a:t>
            </a:r>
            <a:r>
              <a:rPr lang="en-ID" sz="1200" dirty="0"/>
              <a:t>,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dibuat</a:t>
            </a:r>
            <a:r>
              <a:rPr lang="en-ID" sz="1200" dirty="0"/>
              <a:t> </a:t>
            </a:r>
            <a:r>
              <a:rPr lang="en-ID" sz="1200" i="1" dirty="0"/>
              <a:t>product bundling</a:t>
            </a:r>
            <a:r>
              <a:rPr lang="en-ID" sz="1200" dirty="0"/>
              <a:t> </a:t>
            </a:r>
            <a:r>
              <a:rPr lang="en-ID" sz="1200" dirty="0" err="1"/>
              <a:t>antara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digital dan </a:t>
            </a:r>
            <a:r>
              <a:rPr lang="en-ID" sz="1200" dirty="0" err="1"/>
              <a:t>kategori</a:t>
            </a:r>
            <a:r>
              <a:rPr lang="en-ID" sz="1200" dirty="0"/>
              <a:t> lain yang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harga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meningkatkan</a:t>
            </a:r>
            <a:r>
              <a:rPr lang="en-ID" sz="1200" dirty="0"/>
              <a:t> average order value.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Dari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sisi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wilayah, Washington dan Houston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adalah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kota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dengan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performa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penjualan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paling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kuat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baik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dari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jumlah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order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maupun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nilai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penjualan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/>
              <a:t>Washington dan Houston </a:t>
            </a:r>
            <a:r>
              <a:rPr lang="en-ID" sz="1200" dirty="0" err="1"/>
              <a:t>menjadi</a:t>
            </a:r>
            <a:r>
              <a:rPr lang="en-ID" sz="1200" dirty="0"/>
              <a:t> </a:t>
            </a:r>
            <a:r>
              <a:rPr lang="en-ID" sz="1200" dirty="0" err="1"/>
              <a:t>kota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performa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 paling </a:t>
            </a:r>
            <a:r>
              <a:rPr lang="en-ID" sz="1200" dirty="0" err="1"/>
              <a:t>kuat</a:t>
            </a:r>
            <a:r>
              <a:rPr lang="en-ID" sz="1200" dirty="0"/>
              <a:t>, </a:t>
            </a:r>
            <a:r>
              <a:rPr lang="en-ID" sz="1200" dirty="0" err="1"/>
              <a:t>baik</a:t>
            </a:r>
            <a:r>
              <a:rPr lang="en-ID" sz="1200" dirty="0"/>
              <a:t> </a:t>
            </a:r>
            <a:r>
              <a:rPr lang="en-ID" sz="1200" dirty="0" err="1"/>
              <a:t>dari</a:t>
            </a:r>
            <a:r>
              <a:rPr lang="en-ID" sz="1200" dirty="0"/>
              <a:t> </a:t>
            </a:r>
            <a:r>
              <a:rPr lang="en-ID" sz="1200" dirty="0" err="1"/>
              <a:t>jumlah</a:t>
            </a:r>
            <a:r>
              <a:rPr lang="en-ID" sz="1200" dirty="0"/>
              <a:t> order </a:t>
            </a:r>
            <a:r>
              <a:rPr lang="en-ID" sz="1200" dirty="0" err="1"/>
              <a:t>maupun</a:t>
            </a:r>
            <a:r>
              <a:rPr lang="en-ID" sz="1200" dirty="0"/>
              <a:t> total revenue,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fokus</a:t>
            </a:r>
            <a:r>
              <a:rPr lang="en-ID" sz="1200" dirty="0"/>
              <a:t> pasar </a:t>
            </a:r>
            <a:r>
              <a:rPr lang="en-ID" sz="1200" dirty="0" err="1"/>
              <a:t>utama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berada</a:t>
            </a:r>
            <a:r>
              <a:rPr lang="en-ID" sz="1200" dirty="0"/>
              <a:t> di area </a:t>
            </a:r>
            <a:r>
              <a:rPr lang="en-ID" sz="1200" dirty="0" err="1"/>
              <a:t>tersebut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/>
              <a:t>Pola </a:t>
            </a:r>
            <a:r>
              <a:rPr lang="en-ID" sz="1200" dirty="0" err="1"/>
              <a:t>transaksi</a:t>
            </a:r>
            <a:r>
              <a:rPr lang="en-ID" sz="1200" dirty="0"/>
              <a:t> </a:t>
            </a:r>
            <a:r>
              <a:rPr lang="en-ID" sz="1200" dirty="0" err="1"/>
              <a:t>menunjukkan</a:t>
            </a:r>
            <a:r>
              <a:rPr lang="en-ID" sz="1200" dirty="0"/>
              <a:t> </a:t>
            </a:r>
            <a:r>
              <a:rPr lang="en-ID" sz="1200" dirty="0" err="1"/>
              <a:t>dominasi</a:t>
            </a:r>
            <a:r>
              <a:rPr lang="en-ID" sz="1200" dirty="0"/>
              <a:t> wilayah Amerika Utara, </a:t>
            </a:r>
            <a:r>
              <a:rPr lang="en-ID" sz="1200" dirty="0" err="1"/>
              <a:t>sedangkan</a:t>
            </a:r>
            <a:r>
              <a:rPr lang="en-ID" sz="1200" dirty="0"/>
              <a:t> </a:t>
            </a:r>
            <a:r>
              <a:rPr lang="en-ID" sz="1200" dirty="0" err="1"/>
              <a:t>kota-kota</a:t>
            </a:r>
            <a:r>
              <a:rPr lang="en-ID" sz="1200" dirty="0"/>
              <a:t> lain </a:t>
            </a:r>
            <a:r>
              <a:rPr lang="en-ID" sz="1200" dirty="0" err="1"/>
              <a:t>masih</a:t>
            </a:r>
            <a:r>
              <a:rPr lang="en-ID" sz="1200" dirty="0"/>
              <a:t> </a:t>
            </a:r>
            <a:r>
              <a:rPr lang="en-ID" sz="1200" dirty="0" err="1"/>
              <a:t>kurang</a:t>
            </a:r>
            <a:r>
              <a:rPr lang="en-ID" sz="1200" dirty="0"/>
              <a:t> </a:t>
            </a:r>
            <a:r>
              <a:rPr lang="en-ID" sz="1200" dirty="0" err="1"/>
              <a:t>aktif</a:t>
            </a:r>
            <a:r>
              <a:rPr lang="en-ID" sz="1200" dirty="0"/>
              <a:t> dan </a:t>
            </a:r>
            <a:r>
              <a:rPr lang="en-ID" sz="1200" dirty="0" err="1"/>
              <a:t>memiliki</a:t>
            </a:r>
            <a:r>
              <a:rPr lang="en-ID" sz="1200" dirty="0"/>
              <a:t> </a:t>
            </a:r>
            <a:r>
              <a:rPr lang="en-ID" sz="1200" dirty="0" err="1"/>
              <a:t>potensi</a:t>
            </a:r>
            <a:r>
              <a:rPr lang="en-ID" sz="1200" dirty="0"/>
              <a:t> </a:t>
            </a:r>
            <a:r>
              <a:rPr lang="en-ID" sz="1200" dirty="0" err="1"/>
              <a:t>pertumbuhan</a:t>
            </a:r>
            <a:r>
              <a:rPr lang="en-ID" sz="1200" dirty="0"/>
              <a:t> pasar yang </a:t>
            </a:r>
            <a:r>
              <a:rPr lang="en-ID" sz="1200" dirty="0" err="1"/>
              <a:t>belum</a:t>
            </a:r>
            <a:r>
              <a:rPr lang="en-ID" sz="1200" dirty="0"/>
              <a:t> </a:t>
            </a:r>
            <a:r>
              <a:rPr lang="en-ID" sz="1200" dirty="0" err="1"/>
              <a:t>dimaksimalkan</a:t>
            </a:r>
            <a:r>
              <a:rPr lang="en-ID" sz="1200" dirty="0"/>
              <a:t>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dirty="0" err="1"/>
              <a:t>robotik</a:t>
            </a:r>
            <a:r>
              <a:rPr lang="en-ID" sz="1200" dirty="0"/>
              <a:t> (Robots, Robot Kits, Drones) </a:t>
            </a:r>
            <a:r>
              <a:rPr lang="en-ID" sz="1200" dirty="0" err="1"/>
              <a:t>memberikan</a:t>
            </a:r>
            <a:r>
              <a:rPr lang="en-ID" sz="1200" dirty="0"/>
              <a:t> </a:t>
            </a:r>
            <a:r>
              <a:rPr lang="en-ID" sz="1200" dirty="0" err="1"/>
              <a:t>kontribusi</a:t>
            </a:r>
            <a:r>
              <a:rPr lang="en-ID" sz="1200" dirty="0"/>
              <a:t> </a:t>
            </a:r>
            <a:r>
              <a:rPr lang="en-ID" sz="1200" dirty="0" err="1"/>
              <a:t>terbesar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revenue dan </a:t>
            </a:r>
            <a:r>
              <a:rPr lang="en-ID" sz="1200" dirty="0" err="1"/>
              <a:t>merupakan</a:t>
            </a:r>
            <a:r>
              <a:rPr lang="en-ID" sz="1200" dirty="0"/>
              <a:t> </a:t>
            </a:r>
            <a:r>
              <a:rPr lang="en-ID" sz="1200" dirty="0" err="1"/>
              <a:t>kategori</a:t>
            </a:r>
            <a:r>
              <a:rPr lang="en-ID" sz="1200" dirty="0"/>
              <a:t> inti </a:t>
            </a:r>
            <a:r>
              <a:rPr lang="en-ID" sz="1200" dirty="0" err="1"/>
              <a:t>bagi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, </a:t>
            </a:r>
            <a:r>
              <a:rPr lang="en-ID" sz="1200" dirty="0" err="1"/>
              <a:t>namun</a:t>
            </a:r>
            <a:r>
              <a:rPr lang="en-ID" sz="1200" dirty="0"/>
              <a:t> </a:t>
            </a:r>
            <a:r>
              <a:rPr lang="en-ID" sz="1200" dirty="0" err="1"/>
              <a:t>tetap</a:t>
            </a:r>
            <a:r>
              <a:rPr lang="en-ID" sz="1200" dirty="0"/>
              <a:t> </a:t>
            </a:r>
            <a:r>
              <a:rPr lang="en-ID" sz="1200" dirty="0" err="1"/>
              <a:t>perlu</a:t>
            </a:r>
            <a:r>
              <a:rPr lang="en-ID" sz="1200" dirty="0"/>
              <a:t> </a:t>
            </a:r>
            <a:r>
              <a:rPr lang="en-ID" sz="1200" dirty="0" err="1"/>
              <a:t>diversifikasi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meminimalkan</a:t>
            </a:r>
            <a:r>
              <a:rPr lang="en-ID" sz="1200" dirty="0"/>
              <a:t> </a:t>
            </a:r>
            <a:r>
              <a:rPr lang="en-ID" sz="1200" dirty="0" err="1"/>
              <a:t>risiko</a:t>
            </a:r>
            <a:r>
              <a:rPr lang="en-ID" sz="1200" dirty="0"/>
              <a:t>.</a:t>
            </a:r>
            <a:endParaRPr lang="en-US" sz="1200" dirty="0">
              <a:solidFill>
                <a:schemeClr val="dk1"/>
              </a:solidFill>
              <a:latin typeface="+mj-lt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2694238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C61B3F22-6416-D6FC-24AD-40FAACCB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98EC83D1-7461-C5DA-1BB3-102B775D341F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036B3770-FD6D-C41D-DF1B-CB75309D8D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0C4DEFE6-BB33-0AA7-D099-82918CEED987}"/>
              </a:ext>
            </a:extLst>
          </p:cNvPr>
          <p:cNvSpPr txBox="1"/>
          <p:nvPr/>
        </p:nvSpPr>
        <p:spPr>
          <a:xfrm>
            <a:off x="340500" y="60478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Weakness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0" name="Google Shape;170;p25">
            <a:extLst>
              <a:ext uri="{FF2B5EF4-FFF2-40B4-BE49-F238E27FC236}">
                <a16:creationId xmlns:a16="http://schemas.microsoft.com/office/drawing/2014/main" id="{A0611828-79CB-47A3-CAAA-1FE3CFE3A4D2}"/>
              </a:ext>
            </a:extLst>
          </p:cNvPr>
          <p:cNvSpPr txBox="1"/>
          <p:nvPr/>
        </p:nvSpPr>
        <p:spPr>
          <a:xfrm>
            <a:off x="340500" y="1335962"/>
            <a:ext cx="8463000" cy="295462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/>
              <a:t>Perusahaan </a:t>
            </a:r>
            <a:r>
              <a:rPr lang="en-ID" sz="1200" dirty="0" err="1"/>
              <a:t>terlalu</a:t>
            </a:r>
            <a:r>
              <a:rPr lang="en-ID" sz="1200" dirty="0"/>
              <a:t> </a:t>
            </a:r>
            <a:r>
              <a:rPr lang="en-ID" sz="1200" dirty="0" err="1"/>
              <a:t>bergantung</a:t>
            </a:r>
            <a:r>
              <a:rPr lang="en-ID" sz="1200" dirty="0"/>
              <a:t> pada </a:t>
            </a:r>
            <a:r>
              <a:rPr lang="en-ID" sz="1200" dirty="0" err="1"/>
              <a:t>kategori</a:t>
            </a:r>
            <a:r>
              <a:rPr lang="en-ID" sz="1200" dirty="0"/>
              <a:t> Robots dan Drones. Jika </a:t>
            </a:r>
            <a:r>
              <a:rPr lang="en-ID" sz="1200" dirty="0" err="1"/>
              <a:t>terjadi</a:t>
            </a:r>
            <a:r>
              <a:rPr lang="en-ID" sz="1200" dirty="0"/>
              <a:t> </a:t>
            </a:r>
            <a:r>
              <a:rPr lang="en-ID" sz="1200" dirty="0" err="1"/>
              <a:t>penurunan</a:t>
            </a:r>
            <a:r>
              <a:rPr lang="en-ID" sz="1200" dirty="0"/>
              <a:t> </a:t>
            </a:r>
            <a:r>
              <a:rPr lang="en-ID" sz="1200" dirty="0" err="1"/>
              <a:t>permintaan</a:t>
            </a:r>
            <a:r>
              <a:rPr lang="en-ID" sz="1200" dirty="0"/>
              <a:t> pada </a:t>
            </a: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dirty="0" err="1"/>
              <a:t>ini</a:t>
            </a:r>
            <a:r>
              <a:rPr lang="en-ID" sz="1200" dirty="0"/>
              <a:t>, </a:t>
            </a:r>
            <a:r>
              <a:rPr lang="en-ID" sz="1200" dirty="0" err="1"/>
              <a:t>pendapatan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terpengaruh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signifikan</a:t>
            </a:r>
            <a:r>
              <a:rPr lang="en-ID" sz="1200" dirty="0"/>
              <a:t>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 err="1"/>
              <a:t>Produk</a:t>
            </a:r>
            <a:r>
              <a:rPr lang="en-ID" sz="1200" dirty="0"/>
              <a:t> digital </a:t>
            </a:r>
            <a:r>
              <a:rPr lang="en-ID" sz="1200" dirty="0" err="1"/>
              <a:t>meskipun</a:t>
            </a:r>
            <a:r>
              <a:rPr lang="en-ID" sz="1200" dirty="0"/>
              <a:t> </a:t>
            </a:r>
            <a:r>
              <a:rPr lang="en-ID" sz="1200" dirty="0" err="1"/>
              <a:t>memiliki</a:t>
            </a:r>
            <a:r>
              <a:rPr lang="en-ID" sz="1200" dirty="0"/>
              <a:t> volume </a:t>
            </a:r>
            <a:r>
              <a:rPr lang="en-ID" sz="1200" dirty="0" err="1"/>
              <a:t>pembelian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, </a:t>
            </a:r>
            <a:r>
              <a:rPr lang="en-ID" sz="1200" dirty="0" err="1"/>
              <a:t>namun</a:t>
            </a:r>
            <a:r>
              <a:rPr lang="en-ID" sz="1200" dirty="0"/>
              <a:t> </a:t>
            </a:r>
            <a:r>
              <a:rPr lang="en-ID" sz="1200" dirty="0" err="1"/>
              <a:t>nilai</a:t>
            </a:r>
            <a:r>
              <a:rPr lang="en-ID" sz="1200" dirty="0"/>
              <a:t> total </a:t>
            </a:r>
            <a:r>
              <a:rPr lang="en-ID" sz="1200" dirty="0" err="1"/>
              <a:t>penjualannya</a:t>
            </a:r>
            <a:r>
              <a:rPr lang="en-ID" sz="1200" dirty="0"/>
              <a:t> </a:t>
            </a:r>
            <a:r>
              <a:rPr lang="en-ID" sz="1200" dirty="0" err="1"/>
              <a:t>rendah</a:t>
            </a:r>
            <a:r>
              <a:rPr lang="en-ID" sz="1200" dirty="0"/>
              <a:t> </a:t>
            </a:r>
            <a:r>
              <a:rPr lang="en-ID" sz="1200" dirty="0" err="1"/>
              <a:t>karena</a:t>
            </a:r>
            <a:r>
              <a:rPr lang="en-ID" sz="1200" dirty="0"/>
              <a:t> </a:t>
            </a:r>
            <a:r>
              <a:rPr lang="en-ID" sz="1200" dirty="0" err="1"/>
              <a:t>harga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yang </a:t>
            </a:r>
            <a:r>
              <a:rPr lang="en-ID" sz="1200" dirty="0" err="1"/>
              <a:t>murah</a:t>
            </a:r>
            <a:r>
              <a:rPr lang="en-ID" sz="1200" dirty="0"/>
              <a:t>. Hal </a:t>
            </a:r>
            <a:r>
              <a:rPr lang="en-ID" sz="1200" dirty="0" err="1"/>
              <a:t>ini</a:t>
            </a:r>
            <a:r>
              <a:rPr lang="en-ID" sz="1200" dirty="0"/>
              <a:t> </a:t>
            </a:r>
            <a:r>
              <a:rPr lang="en-ID" sz="1200" dirty="0" err="1"/>
              <a:t>membuat</a:t>
            </a:r>
            <a:r>
              <a:rPr lang="en-ID" sz="1200" dirty="0"/>
              <a:t> </a:t>
            </a:r>
            <a:r>
              <a:rPr lang="en-ID" sz="1200" dirty="0" err="1"/>
              <a:t>kontribusinya</a:t>
            </a:r>
            <a:r>
              <a:rPr lang="en-ID" sz="1200" dirty="0"/>
              <a:t> </a:t>
            </a:r>
            <a:r>
              <a:rPr lang="en-ID" sz="1200" dirty="0" err="1"/>
              <a:t>terhadap</a:t>
            </a:r>
            <a:r>
              <a:rPr lang="en-ID" sz="1200" dirty="0"/>
              <a:t> revenue </a:t>
            </a:r>
            <a:r>
              <a:rPr lang="en-ID" sz="1200" dirty="0" err="1"/>
              <a:t>tidak</a:t>
            </a:r>
            <a:r>
              <a:rPr lang="en-ID" sz="1200" dirty="0"/>
              <a:t> optimal.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 err="1"/>
              <a:t>Penjualan</a:t>
            </a:r>
            <a:r>
              <a:rPr lang="en-ID" sz="1200" dirty="0"/>
              <a:t> </a:t>
            </a:r>
            <a:r>
              <a:rPr lang="en-ID" sz="1200" dirty="0" err="1"/>
              <a:t>masih</a:t>
            </a:r>
            <a:r>
              <a:rPr lang="en-ID" sz="1200" dirty="0"/>
              <a:t> </a:t>
            </a:r>
            <a:r>
              <a:rPr lang="en-ID" sz="1200" dirty="0" err="1"/>
              <a:t>terpusat</a:t>
            </a:r>
            <a:r>
              <a:rPr lang="en-ID" sz="1200" dirty="0"/>
              <a:t> di </a:t>
            </a: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kota</a:t>
            </a:r>
            <a:r>
              <a:rPr lang="en-ID" sz="1200" dirty="0"/>
              <a:t> </a:t>
            </a:r>
            <a:r>
              <a:rPr lang="en-ID" sz="1200" dirty="0" err="1"/>
              <a:t>tertentu</a:t>
            </a:r>
            <a:r>
              <a:rPr lang="en-ID" sz="1200" dirty="0"/>
              <a:t> </a:t>
            </a:r>
            <a:r>
              <a:rPr lang="en-ID" sz="1200" dirty="0" err="1"/>
              <a:t>seperti</a:t>
            </a:r>
            <a:r>
              <a:rPr lang="en-ID" sz="1200" dirty="0"/>
              <a:t> Washington dan Houston.</a:t>
            </a:r>
            <a:br>
              <a:rPr lang="en-ID" sz="1200" dirty="0"/>
            </a:br>
            <a:r>
              <a:rPr lang="en-ID" sz="1200" b="1" dirty="0" err="1"/>
              <a:t>Rekomendasi</a:t>
            </a:r>
            <a:r>
              <a:rPr lang="en-ID" sz="1200" b="1" dirty="0"/>
              <a:t> </a:t>
            </a:r>
            <a:r>
              <a:rPr lang="en-ID" sz="1200" b="1" dirty="0" err="1"/>
              <a:t>tambahan</a:t>
            </a:r>
            <a:r>
              <a:rPr lang="en-ID" sz="1200" b="1" dirty="0"/>
              <a:t>:</a:t>
            </a:r>
            <a:r>
              <a:rPr lang="en-ID" sz="1200" dirty="0"/>
              <a:t> Perusahaan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melakukan</a:t>
            </a:r>
            <a:r>
              <a:rPr lang="en-ID" sz="1200" dirty="0"/>
              <a:t> </a:t>
            </a:r>
            <a:r>
              <a:rPr lang="en-ID" sz="1200" dirty="0" err="1"/>
              <a:t>analisis</a:t>
            </a:r>
            <a:r>
              <a:rPr lang="en-ID" sz="1200" dirty="0"/>
              <a:t> </a:t>
            </a:r>
            <a:r>
              <a:rPr lang="en-ID" sz="1200" dirty="0" err="1"/>
              <a:t>demografi</a:t>
            </a:r>
            <a:r>
              <a:rPr lang="en-ID" sz="1200" dirty="0"/>
              <a:t> dan </a:t>
            </a:r>
            <a:r>
              <a:rPr lang="en-ID" sz="1200" dirty="0" err="1"/>
              <a:t>perilaku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 di </a:t>
            </a:r>
            <a:r>
              <a:rPr lang="en-ID" sz="1200" dirty="0" err="1"/>
              <a:t>kota-kota</a:t>
            </a:r>
            <a:r>
              <a:rPr lang="en-ID" sz="1200" dirty="0"/>
              <a:t> yang </a:t>
            </a:r>
            <a:r>
              <a:rPr lang="en-ID" sz="1200" dirty="0" err="1"/>
              <a:t>penjualannya</a:t>
            </a:r>
            <a:r>
              <a:rPr lang="en-ID" sz="1200" dirty="0"/>
              <a:t> </a:t>
            </a:r>
            <a:r>
              <a:rPr lang="en-ID" sz="1200" dirty="0" err="1"/>
              <a:t>rendah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menemukan</a:t>
            </a:r>
            <a:r>
              <a:rPr lang="en-ID" sz="1200" dirty="0"/>
              <a:t> </a:t>
            </a:r>
            <a:r>
              <a:rPr lang="en-ID" sz="1200" dirty="0" err="1"/>
              <a:t>potensi</a:t>
            </a:r>
            <a:r>
              <a:rPr lang="en-ID" sz="1200" dirty="0"/>
              <a:t> pasar </a:t>
            </a:r>
            <a:r>
              <a:rPr lang="en-ID" sz="1200" dirty="0" err="1"/>
              <a:t>baru</a:t>
            </a:r>
            <a:r>
              <a:rPr lang="en-ID" sz="1200" dirty="0"/>
              <a:t>. Selain </a:t>
            </a:r>
            <a:r>
              <a:rPr lang="en-ID" sz="1200" dirty="0" err="1"/>
              <a:t>itu</a:t>
            </a:r>
            <a:r>
              <a:rPr lang="en-ID" sz="1200" dirty="0"/>
              <a:t>, strategi </a:t>
            </a:r>
            <a:r>
              <a:rPr lang="en-ID" sz="1200" dirty="0" err="1"/>
              <a:t>promosi</a:t>
            </a:r>
            <a:r>
              <a:rPr lang="en-ID" sz="1200" dirty="0"/>
              <a:t> </a:t>
            </a:r>
            <a:r>
              <a:rPr lang="en-ID" sz="1200" dirty="0" err="1"/>
              <a:t>berbasis</a:t>
            </a:r>
            <a:r>
              <a:rPr lang="en-ID" sz="1200" dirty="0"/>
              <a:t> </a:t>
            </a:r>
            <a:r>
              <a:rPr lang="en-ID" sz="1200" dirty="0" err="1"/>
              <a:t>lokasi</a:t>
            </a:r>
            <a:r>
              <a:rPr lang="en-ID" sz="1200" dirty="0"/>
              <a:t> (location-based marketing) dan </a:t>
            </a:r>
            <a:r>
              <a:rPr lang="en-ID" sz="1200" dirty="0" err="1"/>
              <a:t>kampanye</a:t>
            </a:r>
            <a:r>
              <a:rPr lang="en-ID" sz="1200" dirty="0"/>
              <a:t> digital yang </a:t>
            </a:r>
            <a:r>
              <a:rPr lang="en-ID" sz="1200" dirty="0" err="1"/>
              <a:t>ditargetkan</a:t>
            </a:r>
            <a:r>
              <a:rPr lang="en-ID" sz="1200" dirty="0"/>
              <a:t>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membantu</a:t>
            </a:r>
            <a:r>
              <a:rPr lang="en-ID" sz="1200" dirty="0"/>
              <a:t> </a:t>
            </a:r>
            <a:r>
              <a:rPr lang="en-ID" sz="1200" dirty="0" err="1"/>
              <a:t>memperluas</a:t>
            </a:r>
            <a:r>
              <a:rPr lang="en-ID" sz="1200" dirty="0"/>
              <a:t> </a:t>
            </a:r>
            <a:r>
              <a:rPr lang="en-ID" sz="1200" dirty="0" err="1"/>
              <a:t>jangkauan</a:t>
            </a:r>
            <a:r>
              <a:rPr lang="en-ID" sz="1200" dirty="0"/>
              <a:t> pasar.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ID" sz="1200" dirty="0"/>
              <a:t>Harga </a:t>
            </a:r>
            <a:r>
              <a:rPr lang="en-ID" sz="1200" dirty="0" err="1"/>
              <a:t>beberapa</a:t>
            </a:r>
            <a:r>
              <a:rPr lang="en-ID" sz="1200" dirty="0"/>
              <a:t> </a:t>
            </a:r>
            <a:r>
              <a:rPr lang="en-ID" sz="1200" dirty="0" err="1"/>
              <a:t>produk</a:t>
            </a:r>
            <a:r>
              <a:rPr lang="en-ID" sz="1200" dirty="0"/>
              <a:t> </a:t>
            </a:r>
            <a:r>
              <a:rPr lang="en-ID" sz="1200" dirty="0" err="1"/>
              <a:t>terlihat</a:t>
            </a:r>
            <a:r>
              <a:rPr lang="en-ID" sz="1200" dirty="0"/>
              <a:t> </a:t>
            </a:r>
            <a:r>
              <a:rPr lang="en-ID" sz="1200" dirty="0" err="1"/>
              <a:t>kurang</a:t>
            </a:r>
            <a:r>
              <a:rPr lang="en-ID" sz="1200" dirty="0"/>
              <a:t> optimal, </a:t>
            </a:r>
            <a:r>
              <a:rPr lang="en-ID" sz="1200" dirty="0" err="1"/>
              <a:t>terutama</a:t>
            </a:r>
            <a:r>
              <a:rPr lang="en-ID" sz="1200" dirty="0"/>
              <a:t> pada </a:t>
            </a:r>
            <a:r>
              <a:rPr lang="en-ID" sz="1200" dirty="0" err="1"/>
              <a:t>kategori</a:t>
            </a:r>
            <a:r>
              <a:rPr lang="en-ID" sz="1200" dirty="0"/>
              <a:t> </a:t>
            </a:r>
            <a:r>
              <a:rPr lang="en-ID" sz="1200" dirty="0" err="1"/>
              <a:t>harga</a:t>
            </a:r>
            <a:r>
              <a:rPr lang="en-ID" sz="1200" dirty="0"/>
              <a:t> </a:t>
            </a:r>
            <a:r>
              <a:rPr lang="en-ID" sz="1200" dirty="0" err="1"/>
              <a:t>murah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volume </a:t>
            </a:r>
            <a:r>
              <a:rPr lang="en-ID" sz="1200" dirty="0" err="1"/>
              <a:t>tinggi</a:t>
            </a:r>
            <a:r>
              <a:rPr lang="en-ID" sz="1200" dirty="0"/>
              <a:t> </a:t>
            </a:r>
            <a:r>
              <a:rPr lang="en-ID" sz="1200" dirty="0" err="1"/>
              <a:t>tetapi</a:t>
            </a:r>
            <a:r>
              <a:rPr lang="en-ID" sz="1200" dirty="0"/>
              <a:t> revenue </a:t>
            </a:r>
            <a:r>
              <a:rPr lang="en-ID" sz="1200" dirty="0" err="1"/>
              <a:t>kecil</a:t>
            </a:r>
            <a:r>
              <a:rPr lang="en-ID" sz="1200" dirty="0"/>
              <a:t>. Strategi </a:t>
            </a:r>
            <a:r>
              <a:rPr lang="en-ID" sz="1200" dirty="0" err="1"/>
              <a:t>penyesuaian</a:t>
            </a:r>
            <a:r>
              <a:rPr lang="en-ID" sz="1200" dirty="0"/>
              <a:t> </a:t>
            </a:r>
            <a:r>
              <a:rPr lang="en-ID" sz="1200" dirty="0" err="1"/>
              <a:t>harga</a:t>
            </a:r>
            <a:r>
              <a:rPr lang="en-ID" sz="1200" dirty="0"/>
              <a:t> </a:t>
            </a:r>
            <a:r>
              <a:rPr lang="en-ID" sz="1200" dirty="0" err="1"/>
              <a:t>atau</a:t>
            </a:r>
            <a:r>
              <a:rPr lang="en-ID" sz="1200" dirty="0"/>
              <a:t> </a:t>
            </a:r>
            <a:r>
              <a:rPr lang="en-ID" sz="1200" dirty="0" err="1"/>
              <a:t>paket</a:t>
            </a:r>
            <a:r>
              <a:rPr lang="en-ID" sz="1200" dirty="0"/>
              <a:t> bundling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digunakan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meningkatkan</a:t>
            </a:r>
            <a:r>
              <a:rPr lang="en-ID" sz="1200" dirty="0"/>
              <a:t> </a:t>
            </a:r>
            <a:r>
              <a:rPr lang="en-ID" sz="1200" dirty="0" err="1"/>
              <a:t>nilai</a:t>
            </a:r>
            <a:r>
              <a:rPr lang="en-ID" sz="1200" dirty="0"/>
              <a:t> </a:t>
            </a:r>
            <a:r>
              <a:rPr lang="en-ID" sz="1200" dirty="0" err="1"/>
              <a:t>penjualan</a:t>
            </a:r>
            <a:r>
              <a:rPr lang="en-ID" sz="1200" dirty="0"/>
              <a:t>.</a:t>
            </a:r>
            <a:endParaRPr lang="en-US" sz="1200" dirty="0">
              <a:solidFill>
                <a:schemeClr val="dk1"/>
              </a:solidFill>
              <a:latin typeface="+mj-lt"/>
              <a:ea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1223767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>
          <a:extLst>
            <a:ext uri="{FF2B5EF4-FFF2-40B4-BE49-F238E27FC236}">
              <a16:creationId xmlns:a16="http://schemas.microsoft.com/office/drawing/2014/main" id="{3F7DB7D5-82A3-7D9D-462F-707FCA70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5">
            <a:extLst>
              <a:ext uri="{FF2B5EF4-FFF2-40B4-BE49-F238E27FC236}">
                <a16:creationId xmlns:a16="http://schemas.microsoft.com/office/drawing/2014/main" id="{DBE40F06-875A-7D02-C617-A704CA1DBB7F}"/>
              </a:ext>
            </a:extLst>
          </p:cNvPr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5">
            <a:extLst>
              <a:ext uri="{FF2B5EF4-FFF2-40B4-BE49-F238E27FC236}">
                <a16:creationId xmlns:a16="http://schemas.microsoft.com/office/drawing/2014/main" id="{AEE4C2C2-2F7D-7D9A-9C20-AC6BBDE3FE3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>
            <a:extLst>
              <a:ext uri="{FF2B5EF4-FFF2-40B4-BE49-F238E27FC236}">
                <a16:creationId xmlns:a16="http://schemas.microsoft.com/office/drawing/2014/main" id="{CE6CAE9F-514B-C706-F971-623ABBF7B8D8}"/>
              </a:ext>
            </a:extLst>
          </p:cNvPr>
          <p:cNvSpPr txBox="1"/>
          <p:nvPr/>
        </p:nvSpPr>
        <p:spPr>
          <a:xfrm>
            <a:off x="340500" y="604788"/>
            <a:ext cx="8463000" cy="615523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lvl="0">
              <a:buSzPts val="2700"/>
            </a:pPr>
            <a:r>
              <a:rPr lang="en-US" sz="2700" b="1" dirty="0">
                <a:latin typeface="Rubik"/>
                <a:ea typeface="Rubik"/>
                <a:cs typeface="Rubik"/>
                <a:sym typeface="Rubik"/>
              </a:rPr>
              <a:t>Recommendation</a:t>
            </a:r>
            <a:endParaRPr sz="2700" b="1" dirty="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0" name="Google Shape;170;p25">
            <a:extLst>
              <a:ext uri="{FF2B5EF4-FFF2-40B4-BE49-F238E27FC236}">
                <a16:creationId xmlns:a16="http://schemas.microsoft.com/office/drawing/2014/main" id="{7273CBD6-5B57-6638-9D66-8C360A423F1F}"/>
              </a:ext>
            </a:extLst>
          </p:cNvPr>
          <p:cNvSpPr txBox="1"/>
          <p:nvPr/>
        </p:nvSpPr>
        <p:spPr>
          <a:xfrm>
            <a:off x="340500" y="1335962"/>
            <a:ext cx="8463000" cy="2400627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1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Perkuat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pemasaran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di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kota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sudah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kuat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performanya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seperti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Washington dan Houston, agar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penjualan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tetap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stabil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Untuk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kategori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Robots dan Drones,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perusahaan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bisa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menawarkan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layanan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tambahan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paket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menarik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atau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garansi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panjang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untuk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meningkatkan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value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produk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Produk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digital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bisa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dijadikan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pemancing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pelanggan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baru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lalu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diarahkan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ke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pembelian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produk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bernilai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tinggi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Perusahaan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bisa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mulai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meningkatkan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promosi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di wilayah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belum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optimal,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karena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masih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ada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banyak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ruang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untuk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bertumbuh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.</a:t>
            </a:r>
          </a:p>
          <a:p>
            <a:pPr marL="228600" lvl="0" indent="-228600">
              <a:lnSpc>
                <a:spcPct val="150000"/>
              </a:lnSpc>
              <a:buSzPct val="100000"/>
              <a:buFont typeface="+mj-lt"/>
              <a:buAutoNum type="arabicPeriod"/>
            </a:pP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Bikin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strategi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penjualan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yang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lebih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jelas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untuk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masing-masing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kategori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utama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supaya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kontribusinya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tetap</a:t>
            </a:r>
            <a:r>
              <a:rPr lang="en-US" sz="1200" dirty="0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+mj-lt"/>
                <a:ea typeface="Rubik"/>
                <a:cs typeface="Rubik"/>
                <a:sym typeface="Rubik"/>
              </a:rPr>
              <a:t>konsisten</a:t>
            </a:r>
            <a:endParaRPr lang="en-US" sz="1200" dirty="0">
              <a:solidFill>
                <a:schemeClr val="dk1"/>
              </a:solidFill>
              <a:latin typeface="+mj-lt"/>
              <a:ea typeface="Rubik"/>
              <a:cs typeface="Rubik"/>
              <a:sym typeface="Rubik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76D80-2938-E070-7670-2F963CA1E1A0}"/>
              </a:ext>
            </a:extLst>
          </p:cNvPr>
          <p:cNvSpPr txBox="1"/>
          <p:nvPr/>
        </p:nvSpPr>
        <p:spPr>
          <a:xfrm>
            <a:off x="5260200" y="4338657"/>
            <a:ext cx="3543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Analisis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dan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rekomendasi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disusun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berdasarkan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hasil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master table dan dashboard </a:t>
            </a:r>
            <a:r>
              <a:rPr lang="en-ID" sz="1000" dirty="0" err="1">
                <a:solidFill>
                  <a:schemeClr val="bg1">
                    <a:lumMod val="50000"/>
                  </a:schemeClr>
                </a:solidFill>
              </a:rPr>
              <a:t>visualisasi</a:t>
            </a:r>
            <a:r>
              <a:rPr lang="en-ID" sz="1000" dirty="0">
                <a:solidFill>
                  <a:schemeClr val="bg1">
                    <a:lumMod val="50000"/>
                  </a:schemeClr>
                </a:solidFill>
              </a:rPr>
              <a:t> pada Looker Studio.</a:t>
            </a:r>
          </a:p>
        </p:txBody>
      </p:sp>
    </p:spTree>
    <p:extLst>
      <p:ext uri="{BB962C8B-B14F-4D97-AF65-F5344CB8AC3E}">
        <p14:creationId xmlns:p14="http://schemas.microsoft.com/office/powerpoint/2010/main" val="1642785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0"/>
          <p:cNvPicPr preferRelativeResize="0"/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0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pic>
        <p:nvPicPr>
          <p:cNvPr id="2" name="object 13">
            <a:extLst>
              <a:ext uri="{FF2B5EF4-FFF2-40B4-BE49-F238E27FC236}">
                <a16:creationId xmlns:a16="http://schemas.microsoft.com/office/drawing/2014/main" id="{CFF68D4A-9A95-D17A-31A1-A059AFE519C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60659" y="4377076"/>
            <a:ext cx="1511000" cy="4268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1062</Words>
  <Application>Microsoft Office PowerPoint</Application>
  <PresentationFormat>On-screen Show (16:9)</PresentationFormat>
  <Paragraphs>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Rubik Medium</vt:lpstr>
      <vt:lpstr>Arial</vt:lpstr>
      <vt:lpstr>Rubik</vt:lpstr>
      <vt:lpstr>Rubik SemiBold</vt:lpstr>
      <vt:lpstr>Rubik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Disya Ariza</cp:lastModifiedBy>
  <cp:revision>10</cp:revision>
  <dcterms:modified xsi:type="dcterms:W3CDTF">2025-12-11T15:41:05Z</dcterms:modified>
</cp:coreProperties>
</file>