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8" r:id="rId3"/>
    <p:sldId id="264" r:id="rId4"/>
    <p:sldId id="265" r:id="rId5"/>
    <p:sldId id="266" r:id="rId6"/>
    <p:sldId id="278" r:id="rId7"/>
    <p:sldId id="282" r:id="rId8"/>
    <p:sldId id="285" r:id="rId9"/>
    <p:sldId id="283" r:id="rId10"/>
    <p:sldId id="284" r:id="rId11"/>
    <p:sldId id="279" r:id="rId12"/>
    <p:sldId id="277" r:id="rId13"/>
    <p:sldId id="281" r:id="rId14"/>
    <p:sldId id="263" r:id="rId15"/>
  </p:sldIdLst>
  <p:sldSz cx="9144000" cy="5143500" type="screen16x9"/>
  <p:notesSz cx="6858000" cy="9144000"/>
  <p:embeddedFontLst>
    <p:embeddedFont>
      <p:font typeface="Rubik" panose="020B0604020202020204" charset="-79"/>
      <p:regular r:id="rId17"/>
      <p:bold r:id="rId18"/>
      <p:italic r:id="rId19"/>
      <p:boldItalic r:id="rId20"/>
    </p:embeddedFont>
    <p:embeddedFont>
      <p:font typeface="Rubik Light" panose="020B0604020202020204" charset="-79"/>
      <p:regular r:id="rId21"/>
      <p:bold r:id="rId22"/>
      <p:italic r:id="rId23"/>
      <p:boldItalic r:id="rId24"/>
    </p:embeddedFont>
    <p:embeddedFont>
      <p:font typeface="Rubik Medium" panose="020B0604020202020204" charset="-79"/>
      <p:regular r:id="rId25"/>
      <p:bold r:id="rId26"/>
      <p:italic r:id="rId27"/>
      <p:boldItalic r:id="rId28"/>
    </p:embeddedFont>
    <p:embeddedFont>
      <p:font typeface="Rubik SemiBold" panose="020B0604020202020204" charset="-79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1356d9b0f1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1356d9b0f1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6bdf3704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26bdf3704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6bdf370499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g26bdf370499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6bdf3704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26bdf3704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6bdf370499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26bdf370499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1C603C2A-0FFC-E1AB-12D1-532ADE6D2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87898B82-8608-C57C-83CC-CA5E0622B5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36EBF5DF-1F2C-C46A-6DF9-2EAFA4799F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7156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A40BB58A-9B81-7020-E395-8F151E4D6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90D00E19-B727-DFCC-D0A0-BD4176F452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09F16C3D-E7FB-5034-6C6F-FC668F37E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292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0AD36360-FB7F-2CE1-3122-59F66AC34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7A851038-CC07-F2B5-8B4C-11A20AA97A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2F00DDAC-4445-E442-553C-74733F45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86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ACE6A191-30CD-20F1-E0F2-A00D1686D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A1445276-D69F-0F66-5701-5AD8957C65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F8999AB8-923A-F364-21C4-AE1B58CA5F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9740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DA485319-323D-A49C-5BFB-17891C9E2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FE7528EB-DD5C-BED7-71CA-5AB8718823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25B1C699-CF9E-E7A5-F067-ED82DD010D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16577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542D5F1F-60AB-6CCB-63AB-1E70EC932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02A18111-E6D9-197D-F784-ABED5AD0AF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D660AE89-0F05-C0BA-E281-257300AEF2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56239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1FA36BD4-2035-783F-19B8-6C2D6522C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C871B4D4-795A-EFB6-D268-8086E32F1B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31BD0932-D0D2-E24A-8985-5F13E8BCCC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49769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93C240AF-A9CA-05C4-6EFC-3C5C3774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6c93f6c33a_1_14:notes">
            <a:extLst>
              <a:ext uri="{FF2B5EF4-FFF2-40B4-BE49-F238E27FC236}">
                <a16:creationId xmlns:a16="http://schemas.microsoft.com/office/drawing/2014/main" id="{AF429479-BCF6-BC27-6FEF-B6E2119C1C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26c93f6c33a_1_14:notes">
            <a:extLst>
              <a:ext uri="{FF2B5EF4-FFF2-40B4-BE49-F238E27FC236}">
                <a16:creationId xmlns:a16="http://schemas.microsoft.com/office/drawing/2014/main" id="{AE3F462C-5E12-9C10-C872-2D5787E240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05125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200da5092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200da5092a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6.png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DisyaAriza/sertifikat-disya/blob/main/Sertifikat_DISYA%20NURUL%20ARIZA_Associate%20Data%20Scientist%20Certification.pdf" TargetMode="External"/><Relationship Id="rId13" Type="http://schemas.openxmlformats.org/officeDocument/2006/relationships/hyperlink" Target="https://github.com/DisyaAriza/sertifikat-disya/blob/main/certificate-DQLAB%204%20INTP1QJLIQP.pdf" TargetMode="External"/><Relationship Id="rId18" Type="http://schemas.openxmlformats.org/officeDocument/2006/relationships/hyperlink" Target="https://github.com/DisyaAriza/sertifikat-disya/blob/main/disya-ariza-certificate-completion-damc23.pdf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github.com/DisyaAriza/sertifikat-disya/blob/main/TOEFL.pdf" TargetMode="External"/><Relationship Id="rId12" Type="http://schemas.openxmlformats.org/officeDocument/2006/relationships/hyperlink" Target="https://github.com/DisyaAriza/sertifikat-disya/blob/main/certificate.pdf" TargetMode="External"/><Relationship Id="rId17" Type="http://schemas.openxmlformats.org/officeDocument/2006/relationships/hyperlink" Target="https://github.com/DisyaAriza/sertifikat-disya/blob/main/Sertifikat%20Bootcamp%20myskill%20disya%202024.pdf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github.com/DisyaAriza/sertifikat-disya/blob/main/sertifikat_course_615_3643863_180924145248.pdf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github.com/DisyaAriza/sertifikat-disya/blob/main/SERTIFIKAT%20BNSP%20DATABASE%20PROGRAMMER.pdf" TargetMode="External"/><Relationship Id="rId11" Type="http://schemas.openxmlformats.org/officeDocument/2006/relationships/hyperlink" Target="https://github.com/DisyaAriza/sertifikat-disya/blob/main/certificate%20(1).pdf" TargetMode="External"/><Relationship Id="rId5" Type="http://schemas.openxmlformats.org/officeDocument/2006/relationships/hyperlink" Target="https://github.com/DisyaAriza/sertifikat-disya/blob/main/SERTIFIKAT%20BNSP%20ANALIS%20PROGRAM.pdf" TargetMode="External"/><Relationship Id="rId15" Type="http://schemas.openxmlformats.org/officeDocument/2006/relationships/hyperlink" Target="https://github.com/DisyaAriza/sertifikat-disya/blob/main/certificate-DQLAB%202%20INTR1ATCIVA.pdf" TargetMode="External"/><Relationship Id="rId10" Type="http://schemas.openxmlformats.org/officeDocument/2006/relationships/hyperlink" Target="https://github.com/DisyaAriza/sertifikat-disya/blob/main/Sertifikat_DISYA%20NURUL%20ARIZA_Fundamental%20Data%20Science%20(1).pdf" TargetMode="External"/><Relationship Id="rId19" Type="http://schemas.openxmlformats.org/officeDocument/2006/relationships/hyperlink" Target="https://github.com/DisyaAriza/sertifikat-disya/blob/main/Disya%20Nurul%20Ariza%20-%20E-Certificate%20SC%20Data%20Analysis%20MySkill%20Agustus%202023.pdf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github.com/DisyaAriza/sertifikat-disya/blob/main/Sertifikat_DISYA%20NURUL%20ARIZA_Intermediate%20Data%20Science.pdf" TargetMode="External"/><Relationship Id="rId14" Type="http://schemas.openxmlformats.org/officeDocument/2006/relationships/hyperlink" Target="https://github.com/DisyaAriza/sertifikat-disya/blob/main/certificate-DQLAB%203%20SQLT1QHKFLV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github.com/DisyaAriza/Project-Based-Internship-Bank-Muamalat/blob/main/Bigquery%20Master%20Table.sq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lookerstudio.google.com/reporting/2d019141-c592-4a46-8148-143a5c3d68e3" TargetMode="External"/><Relationship Id="rId5" Type="http://schemas.openxmlformats.org/officeDocument/2006/relationships/hyperlink" Target="https://youtu.be/2tf3Fd2eGBw?si=xZOYhWpOEiW8w43w" TargetMode="Externa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9FAB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9800" y="186500"/>
            <a:ext cx="1399901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517899" y="1124135"/>
            <a:ext cx="5923722" cy="923299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 dirty="0">
                <a:solidFill>
                  <a:schemeClr val="lt1"/>
                </a:solidFill>
                <a:latin typeface="Rubik"/>
                <a:ea typeface="Rubik"/>
                <a:cs typeface="Rubik"/>
                <a:sym typeface="Rubik"/>
              </a:rPr>
              <a:t>Analisis Penjualan</a:t>
            </a:r>
            <a:endParaRPr sz="4800" dirty="0">
              <a:solidFill>
                <a:schemeClr val="lt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17899" y="2047434"/>
            <a:ext cx="4392000" cy="954077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lt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Business Intelligence Analyst VIX Bank Muamalat</a:t>
            </a:r>
            <a:endParaRPr sz="2500" dirty="0">
              <a:solidFill>
                <a:schemeClr val="lt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6757125" y="-621925"/>
            <a:ext cx="3135000" cy="3051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 txBox="1"/>
          <p:nvPr/>
        </p:nvSpPr>
        <p:spPr>
          <a:xfrm>
            <a:off x="1769125" y="172450"/>
            <a:ext cx="45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X</a:t>
            </a:r>
            <a:endParaRPr sz="3000">
              <a:solidFill>
                <a:schemeClr val="lt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517899" y="3124621"/>
            <a:ext cx="4392000" cy="800189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Rubik Light"/>
                <a:ea typeface="Rubik Light"/>
                <a:cs typeface="Rubik Light"/>
                <a:sym typeface="Rubik Light"/>
              </a:rPr>
              <a:t>Presented by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lt1"/>
                </a:solidFill>
                <a:latin typeface="Rubik Light"/>
                <a:ea typeface="Rubik Light"/>
                <a:cs typeface="Rubik Light"/>
                <a:sym typeface="Rubik Light"/>
              </a:rPr>
              <a:t>Disya Nurul Ariza</a:t>
            </a:r>
            <a:endParaRPr sz="2000" dirty="0">
              <a:solidFill>
                <a:schemeClr val="lt1"/>
              </a:solidFill>
              <a:latin typeface="Rubik Light"/>
              <a:ea typeface="Rubik Light"/>
              <a:cs typeface="Rubik Light"/>
              <a:sym typeface="Rubik Light"/>
            </a:endParaRPr>
          </a:p>
        </p:txBody>
      </p:sp>
      <p:pic>
        <p:nvPicPr>
          <p:cNvPr id="2" name="object 13">
            <a:extLst>
              <a:ext uri="{FF2B5EF4-FFF2-40B4-BE49-F238E27FC236}">
                <a16:creationId xmlns:a16="http://schemas.microsoft.com/office/drawing/2014/main" id="{E19ED8E0-C948-DE6C-8117-0B7A87003687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386876" y="186500"/>
            <a:ext cx="1511000" cy="4268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019FAB">
              <a:alpha val="4745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1033575" y="470775"/>
            <a:ext cx="2431800" cy="3298800"/>
          </a:xfrm>
          <a:prstGeom prst="roundRect">
            <a:avLst>
              <a:gd name="adj" fmla="val 16667"/>
            </a:avLst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4867250" y="959175"/>
            <a:ext cx="3504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DISYA NURUL ARIZA</a:t>
            </a:r>
            <a:endParaRPr sz="2000" b="0" i="0" u="none" strike="noStrike" cap="none" dirty="0">
              <a:solidFill>
                <a:srgbClr val="000000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4867250" y="1604175"/>
            <a:ext cx="35046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buSzPts val="2000"/>
            </a:pPr>
            <a:r>
              <a:rPr lang="en-ID" sz="2000" dirty="0"/>
              <a:t>Data Scientist Intern</a:t>
            </a:r>
            <a:endParaRPr sz="2000" b="0" i="0" u="none" strike="noStrike" cap="none" dirty="0">
              <a:solidFill>
                <a:srgbClr val="019FAB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067300" y="2254421"/>
            <a:ext cx="35046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50000"/>
              </a:lnSpc>
              <a:buSzPts val="2000"/>
            </a:pPr>
            <a:r>
              <a:rPr lang="en-ID" sz="1200" dirty="0" err="1"/>
              <a:t>Seorang</a:t>
            </a:r>
            <a:r>
              <a:rPr lang="en-ID" sz="1200" dirty="0"/>
              <a:t> fresh graduate </a:t>
            </a:r>
            <a:r>
              <a:rPr lang="en-ID" sz="1200" dirty="0" err="1"/>
              <a:t>Teknologi</a:t>
            </a:r>
            <a:r>
              <a:rPr lang="en-ID" sz="1200" dirty="0"/>
              <a:t> </a:t>
            </a:r>
            <a:r>
              <a:rPr lang="en-ID" sz="1200" dirty="0" err="1"/>
              <a:t>Informasi</a:t>
            </a:r>
            <a:r>
              <a:rPr lang="en-ID" sz="1200" dirty="0"/>
              <a:t> Universitas Bina Sarana </a:t>
            </a:r>
            <a:r>
              <a:rPr lang="en-ID" sz="1200" dirty="0" err="1"/>
              <a:t>Informatika</a:t>
            </a:r>
            <a:r>
              <a:rPr lang="en-ID" sz="1200" dirty="0"/>
              <a:t> </a:t>
            </a:r>
            <a:r>
              <a:rPr lang="en-ID" sz="1200" dirty="0" err="1"/>
              <a:t>angkatan</a:t>
            </a:r>
            <a:r>
              <a:rPr lang="en-ID" sz="1200" dirty="0"/>
              <a:t> 2021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minat</a:t>
            </a:r>
            <a:r>
              <a:rPr lang="en-ID" sz="1200" dirty="0"/>
              <a:t> </a:t>
            </a:r>
            <a:r>
              <a:rPr lang="en-ID" sz="1200" dirty="0" err="1"/>
              <a:t>besar</a:t>
            </a:r>
            <a:r>
              <a:rPr lang="en-ID" sz="1200" dirty="0"/>
              <a:t> pada </a:t>
            </a:r>
            <a:r>
              <a:rPr lang="en-ID" sz="1200" dirty="0" err="1"/>
              <a:t>analisis</a:t>
            </a:r>
            <a:r>
              <a:rPr lang="en-ID" sz="1200" dirty="0"/>
              <a:t> data, </a:t>
            </a:r>
            <a:r>
              <a:rPr lang="en-ID" sz="1200" dirty="0" err="1"/>
              <a:t>statistika</a:t>
            </a:r>
            <a:r>
              <a:rPr lang="en-ID" sz="1200" dirty="0"/>
              <a:t>, dan </a:t>
            </a:r>
            <a:r>
              <a:rPr lang="en-ID" sz="1200" dirty="0" err="1"/>
              <a:t>visualisasi</a:t>
            </a:r>
            <a:r>
              <a:rPr lang="en-ID" sz="1200" dirty="0"/>
              <a:t> data, </a:t>
            </a:r>
            <a:r>
              <a:rPr lang="en-ID" sz="1200" dirty="0" err="1"/>
              <a:t>serta</a:t>
            </a:r>
            <a:r>
              <a:rPr lang="en-ID" sz="1200" dirty="0"/>
              <a:t> </a:t>
            </a:r>
            <a:r>
              <a:rPr lang="en-ID" sz="1200" dirty="0" err="1"/>
              <a:t>memiliki</a:t>
            </a:r>
            <a:r>
              <a:rPr lang="en-ID" sz="1200" dirty="0"/>
              <a:t> </a:t>
            </a:r>
            <a:r>
              <a:rPr lang="en-ID" sz="1200" dirty="0" err="1"/>
              <a:t>keterampilan</a:t>
            </a:r>
            <a:r>
              <a:rPr lang="en-ID" sz="1200" dirty="0"/>
              <a:t> </a:t>
            </a:r>
            <a:r>
              <a:rPr lang="en-ID" sz="1200" dirty="0" err="1"/>
              <a:t>dalam</a:t>
            </a:r>
            <a:r>
              <a:rPr lang="en-ID" sz="1200" dirty="0"/>
              <a:t> Python, MySQL, RapidMiner, dan tool </a:t>
            </a:r>
            <a:r>
              <a:rPr lang="en-ID" sz="1200" dirty="0" err="1"/>
              <a:t>visualisasi</a:t>
            </a:r>
            <a:r>
              <a:rPr lang="en-ID" sz="1200" dirty="0"/>
              <a:t> </a:t>
            </a:r>
            <a:r>
              <a:rPr lang="en-ID" sz="1200" dirty="0" err="1"/>
              <a:t>seperti</a:t>
            </a:r>
            <a:r>
              <a:rPr lang="en-ID" sz="1200" dirty="0"/>
              <a:t> Tableau dan Power BI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analisis</a:t>
            </a:r>
            <a:r>
              <a:rPr lang="en-ID" sz="1200" dirty="0"/>
              <a:t> dan </a:t>
            </a:r>
            <a:r>
              <a:rPr lang="en-ID" sz="1200" dirty="0" err="1"/>
              <a:t>pengolahan</a:t>
            </a:r>
            <a:r>
              <a:rPr lang="en-ID" sz="1200" dirty="0"/>
              <a:t> data.</a:t>
            </a:r>
            <a:endParaRPr sz="120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1004800" y="3928325"/>
            <a:ext cx="35046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2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Serang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Baru,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Kabupaten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Rubik Medium"/>
                <a:ea typeface="Rubik Medium"/>
                <a:cs typeface="Rubik Medium"/>
                <a:sym typeface="Rubik Medium"/>
              </a:rPr>
              <a:t> Bekasi, Jawa Barat</a:t>
            </a:r>
            <a:endParaRPr sz="12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  <p:pic>
        <p:nvPicPr>
          <p:cNvPr id="81" name="Google Shape;81;p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10750" y="4774200"/>
            <a:ext cx="369300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95300" y="3912875"/>
            <a:ext cx="400201" cy="400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04096" y="4411877"/>
            <a:ext cx="369300" cy="26351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88472" y="4720063"/>
            <a:ext cx="35046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50000"/>
              </a:lnSpc>
              <a:buSzPts val="2000"/>
            </a:pPr>
            <a:r>
              <a:rPr lang="en-ID" sz="1200" dirty="0">
                <a:latin typeface="Rubik Medium" panose="020B0604020202020204" charset="-79"/>
                <a:cs typeface="Rubik Medium" panose="020B0604020202020204" charset="-79"/>
              </a:rPr>
              <a:t>www.linkedin.com/in/disya-nurul-ariza24</a:t>
            </a:r>
            <a:endParaRPr sz="1200" b="0" i="0" u="none" strike="noStrike" cap="none" dirty="0">
              <a:solidFill>
                <a:srgbClr val="000000"/>
              </a:solidFill>
              <a:latin typeface="Rubik Medium" panose="020B0604020202020204" charset="-79"/>
              <a:ea typeface="Rubik Medium"/>
              <a:cs typeface="Rubik Medium" panose="020B0604020202020204" charset="-79"/>
              <a:sym typeface="Rubik Medium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997778" y="4312565"/>
            <a:ext cx="35046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 dirty="0">
                <a:latin typeface="Rubik Medium"/>
                <a:ea typeface="Rubik Medium"/>
                <a:cs typeface="Rubik Medium"/>
                <a:sym typeface="Rubik Medium"/>
              </a:rPr>
              <a:t>Disyaaarizaaa24@gmail.com</a:t>
            </a:r>
            <a:endParaRPr sz="1200" b="0" i="0" u="none" strike="noStrike" cap="none" dirty="0">
              <a:solidFill>
                <a:srgbClr val="000000"/>
              </a:solidFill>
              <a:latin typeface="Rubik Medium"/>
              <a:ea typeface="Rubik Medium"/>
              <a:cs typeface="Rubik Medium"/>
              <a:sym typeface="Rubik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6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6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 txBox="1"/>
          <p:nvPr/>
        </p:nvSpPr>
        <p:spPr>
          <a:xfrm>
            <a:off x="340500" y="1406350"/>
            <a:ext cx="3643671" cy="3570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just">
              <a:lnSpc>
                <a:spcPct val="200000"/>
              </a:lnSpc>
              <a:buClr>
                <a:schemeClr val="dk1"/>
              </a:buClr>
              <a:buSzPts val="1100"/>
            </a:pPr>
            <a:r>
              <a:rPr lang="en-ID" sz="1000" b="1" dirty="0"/>
              <a:t>SERTIFIKASI </a:t>
            </a:r>
          </a:p>
          <a:p>
            <a:pPr marL="171450" lvl="0" indent="-171450" algn="just">
              <a:lnSpc>
                <a:spcPct val="20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 err="1"/>
              <a:t>Sertifikat</a:t>
            </a:r>
            <a:r>
              <a:rPr lang="en-ID" sz="1000" dirty="0"/>
              <a:t> BNSP Database Programmer – LSP </a:t>
            </a:r>
            <a:r>
              <a:rPr lang="en-ID" sz="1000" dirty="0" err="1"/>
              <a:t>Teknologi</a:t>
            </a:r>
            <a:r>
              <a:rPr lang="en-ID" sz="1000" dirty="0"/>
              <a:t> Digital | </a:t>
            </a:r>
            <a:r>
              <a:rPr lang="en-ID" sz="1000" dirty="0">
                <a:hlinkClick r:id="rId5"/>
              </a:rPr>
              <a:t>Link </a:t>
            </a:r>
            <a:r>
              <a:rPr lang="en-ID" sz="1000" dirty="0" err="1">
                <a:hlinkClick r:id="rId5"/>
              </a:rPr>
              <a:t>Sertifikat</a:t>
            </a:r>
            <a:r>
              <a:rPr lang="en-ID" sz="1000" dirty="0">
                <a:hlinkClick r:id="rId5"/>
              </a:rPr>
              <a:t> </a:t>
            </a:r>
            <a:r>
              <a:rPr lang="en-ID" sz="1000" dirty="0"/>
              <a:t>| </a:t>
            </a:r>
            <a:r>
              <a:rPr lang="en-ID" sz="1000" dirty="0" err="1"/>
              <a:t>Tanggal</a:t>
            </a:r>
            <a:r>
              <a:rPr lang="en-ID" sz="1000" dirty="0"/>
              <a:t> </a:t>
            </a:r>
            <a:r>
              <a:rPr lang="en-ID" sz="1000" dirty="0" err="1"/>
              <a:t>Ujian</a:t>
            </a:r>
            <a:r>
              <a:rPr lang="en-ID" sz="1000" dirty="0"/>
              <a:t>: 30 Mei 2025 </a:t>
            </a:r>
          </a:p>
          <a:p>
            <a:pPr marL="171450" indent="-171450" algn="just">
              <a:lnSpc>
                <a:spcPct val="20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 err="1"/>
              <a:t>Sertifikat</a:t>
            </a:r>
            <a:r>
              <a:rPr lang="en-ID" sz="1000" dirty="0"/>
              <a:t> BNSP Analis Program – LSP Universitas Bina Sarana </a:t>
            </a:r>
            <a:r>
              <a:rPr lang="en-ID" sz="1000" dirty="0" err="1"/>
              <a:t>Informatika</a:t>
            </a:r>
            <a:r>
              <a:rPr lang="en-ID" sz="1000" dirty="0"/>
              <a:t> | </a:t>
            </a:r>
            <a:r>
              <a:rPr lang="en-ID" sz="1000" dirty="0">
                <a:hlinkClick r:id="rId6"/>
              </a:rPr>
              <a:t>Link </a:t>
            </a:r>
            <a:r>
              <a:rPr lang="en-ID" sz="1000" dirty="0" err="1">
                <a:hlinkClick r:id="rId6"/>
              </a:rPr>
              <a:t>Sertifikat</a:t>
            </a:r>
            <a:r>
              <a:rPr lang="en-ID" sz="1000" dirty="0">
                <a:hlinkClick r:id="rId6"/>
              </a:rPr>
              <a:t> </a:t>
            </a:r>
            <a:r>
              <a:rPr lang="en-ID" sz="1000" dirty="0"/>
              <a:t>| </a:t>
            </a:r>
            <a:r>
              <a:rPr lang="en-ID" sz="1000" dirty="0" err="1"/>
              <a:t>Tanggal</a:t>
            </a:r>
            <a:r>
              <a:rPr lang="en-ID" sz="1000" dirty="0"/>
              <a:t> </a:t>
            </a:r>
            <a:r>
              <a:rPr lang="en-ID" sz="1000" dirty="0" err="1"/>
              <a:t>Ujian</a:t>
            </a:r>
            <a:r>
              <a:rPr lang="en-ID" sz="1000" dirty="0"/>
              <a:t>: 14 Januari 2025 </a:t>
            </a:r>
          </a:p>
          <a:p>
            <a:pPr marL="171450" indent="-171450" algn="just">
              <a:lnSpc>
                <a:spcPct val="20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 err="1"/>
              <a:t>Sertifikat</a:t>
            </a:r>
            <a:r>
              <a:rPr lang="en-ID" sz="1000" dirty="0"/>
              <a:t> TOEFL – Lembaga Bahasa | </a:t>
            </a:r>
            <a:r>
              <a:rPr lang="en-ID" sz="1000" dirty="0">
                <a:hlinkClick r:id="rId7"/>
              </a:rPr>
              <a:t>Link </a:t>
            </a:r>
            <a:r>
              <a:rPr lang="en-ID" sz="1000" dirty="0" err="1">
                <a:hlinkClick r:id="rId7"/>
              </a:rPr>
              <a:t>Sertifikat</a:t>
            </a:r>
            <a:r>
              <a:rPr lang="en-ID" sz="1000" dirty="0"/>
              <a:t> | </a:t>
            </a:r>
            <a:r>
              <a:rPr lang="en-ID" sz="1000" dirty="0" err="1"/>
              <a:t>Tanggal</a:t>
            </a:r>
            <a:r>
              <a:rPr lang="en-ID" sz="1000" dirty="0"/>
              <a:t> </a:t>
            </a:r>
            <a:r>
              <a:rPr lang="en-ID" sz="1000" dirty="0" err="1"/>
              <a:t>Ujian</a:t>
            </a:r>
            <a:r>
              <a:rPr lang="en-ID" sz="1000" dirty="0"/>
              <a:t>: 10 </a:t>
            </a:r>
            <a:r>
              <a:rPr lang="en-ID" sz="1000" dirty="0" err="1"/>
              <a:t>Februari</a:t>
            </a:r>
            <a:r>
              <a:rPr lang="en-ID" sz="1000" dirty="0"/>
              <a:t> 2025</a:t>
            </a:r>
          </a:p>
          <a:p>
            <a:pPr marL="171450" indent="-171450" algn="just">
              <a:lnSpc>
                <a:spcPct val="20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Surat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Keterangan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Kompeten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 Associate Data Scientist - </a:t>
            </a:r>
            <a:r>
              <a:rPr lang="en-ID" sz="1000" dirty="0">
                <a:latin typeface="+mj-lt"/>
              </a:rPr>
              <a:t>Digital Talent Scholarship 2025</a:t>
            </a:r>
            <a:r>
              <a:rPr lang="en-ID" sz="1000" dirty="0">
                <a:solidFill>
                  <a:schemeClr val="tx1"/>
                </a:solidFill>
                <a:latin typeface="+mj-lt"/>
                <a:cs typeface="Rubik"/>
                <a:sym typeface="Rubik"/>
              </a:rPr>
              <a:t> 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| 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  <a:hlinkClick r:id="rId8"/>
              </a:rPr>
              <a:t>Link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  <a:hlinkClick r:id="rId8"/>
              </a:rPr>
              <a:t>Sertifikat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  <a:hlinkClick r:id="rId8"/>
              </a:rPr>
              <a:t> 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|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Tanggal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ID" sz="1000" b="0" i="0" u="none" strike="noStrike" cap="none" dirty="0" err="1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Ujian</a:t>
            </a:r>
            <a:r>
              <a:rPr lang="en-ID" sz="1000" b="0" i="0" u="none" strike="noStrike" cap="none" dirty="0">
                <a:solidFill>
                  <a:schemeClr val="tx1"/>
                </a:solidFill>
                <a:latin typeface="+mj-lt"/>
                <a:ea typeface="Rubik"/>
                <a:cs typeface="Rubik"/>
                <a:sym typeface="Rubik"/>
              </a:rPr>
              <a:t>: 11 September 2025</a:t>
            </a:r>
            <a:endParaRPr sz="1000" b="0" i="0" u="none" strike="noStrike" cap="none" dirty="0">
              <a:solidFill>
                <a:schemeClr val="tx1"/>
              </a:solidFill>
              <a:latin typeface="+mj-lt"/>
              <a:ea typeface="Rubik"/>
              <a:cs typeface="Rubik"/>
              <a:sym typeface="Rubik"/>
            </a:endParaRPr>
          </a:p>
        </p:txBody>
      </p:sp>
      <p:sp>
        <p:nvSpPr>
          <p:cNvPr id="93" name="Google Shape;93;p16"/>
          <p:cNvSpPr txBox="1"/>
          <p:nvPr/>
        </p:nvSpPr>
        <p:spPr>
          <a:xfrm>
            <a:off x="340500" y="452038"/>
            <a:ext cx="8463000" cy="6465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" sz="3000" b="1" i="0" u="none" strike="noStrike" cap="non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Courses and </a:t>
            </a:r>
            <a:r>
              <a:rPr lang="en" sz="3000" b="1" i="0" u="none" strike="noStrike" cap="none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Certification</a:t>
            </a:r>
            <a:endParaRPr sz="3000" b="1" i="0" u="none" strike="noStrike" cap="none">
              <a:solidFill>
                <a:schemeClr val="accent5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92;p16">
            <a:extLst>
              <a:ext uri="{FF2B5EF4-FFF2-40B4-BE49-F238E27FC236}">
                <a16:creationId xmlns:a16="http://schemas.microsoft.com/office/drawing/2014/main" id="{875939B3-C41B-6396-6B6B-944142EB8EDE}"/>
              </a:ext>
            </a:extLst>
          </p:cNvPr>
          <p:cNvSpPr txBox="1"/>
          <p:nvPr/>
        </p:nvSpPr>
        <p:spPr>
          <a:xfrm>
            <a:off x="3984172" y="993338"/>
            <a:ext cx="4989580" cy="3954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just">
              <a:lnSpc>
                <a:spcPct val="200000"/>
              </a:lnSpc>
              <a:buClr>
                <a:schemeClr val="dk1"/>
              </a:buClr>
              <a:buSzPts val="1100"/>
            </a:pPr>
            <a:r>
              <a:rPr lang="en-ID" sz="1000" b="1" dirty="0"/>
              <a:t>PELATIHAN</a:t>
            </a:r>
          </a:p>
          <a:p>
            <a:pPr marL="171450" lvl="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Intermediate Data Science – Digital Talent Scholarship 2025 (Juli 2025) | </a:t>
            </a:r>
            <a:r>
              <a:rPr lang="en-ID" sz="1000" dirty="0">
                <a:hlinkClick r:id="rId9"/>
              </a:rPr>
              <a:t>Link </a:t>
            </a:r>
            <a:r>
              <a:rPr lang="en-ID" sz="1000" dirty="0" err="1">
                <a:hlinkClick r:id="rId9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Fundamental Data Science – Digital Talent Scholarship 2025 (Juni 2025) | </a:t>
            </a:r>
            <a:r>
              <a:rPr lang="en-ID" sz="1000" dirty="0">
                <a:hlinkClick r:id="rId10"/>
              </a:rPr>
              <a:t>Link </a:t>
            </a:r>
            <a:r>
              <a:rPr lang="en-ID" sz="1000" dirty="0" err="1">
                <a:hlinkClick r:id="rId10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AI for Beginners – HP LIFE (November 2024) | </a:t>
            </a:r>
            <a:r>
              <a:rPr lang="en-ID" sz="1000" dirty="0">
                <a:hlinkClick r:id="rId11"/>
              </a:rPr>
              <a:t>Link </a:t>
            </a:r>
            <a:r>
              <a:rPr lang="en-ID" sz="1000" dirty="0" err="1">
                <a:hlinkClick r:id="rId11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Data Science &amp; Analytics – HP LIFE (November 2024) | </a:t>
            </a:r>
            <a:r>
              <a:rPr lang="en-ID" sz="1000" dirty="0">
                <a:hlinkClick r:id="rId12"/>
              </a:rPr>
              <a:t>Link </a:t>
            </a:r>
            <a:r>
              <a:rPr lang="en-ID" sz="1000" dirty="0" err="1">
                <a:hlinkClick r:id="rId12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Python Fundamental for Data Science – </a:t>
            </a:r>
            <a:r>
              <a:rPr lang="en-ID" sz="1000" dirty="0" err="1"/>
              <a:t>DQLab</a:t>
            </a:r>
            <a:r>
              <a:rPr lang="en-ID" sz="1000" dirty="0"/>
              <a:t> (November 2024) | </a:t>
            </a:r>
            <a:r>
              <a:rPr lang="en-ID" sz="1000" dirty="0">
                <a:hlinkClick r:id="rId13"/>
              </a:rPr>
              <a:t>Link </a:t>
            </a:r>
            <a:r>
              <a:rPr lang="en-ID" sz="1000" dirty="0" err="1">
                <a:hlinkClick r:id="rId13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Fundamental SQL Using SELECT Statement – </a:t>
            </a:r>
            <a:r>
              <a:rPr lang="en-ID" sz="1000" dirty="0" err="1"/>
              <a:t>DQLab</a:t>
            </a:r>
            <a:r>
              <a:rPr lang="en-ID" sz="1000" dirty="0"/>
              <a:t> (November 2024) | </a:t>
            </a:r>
            <a:r>
              <a:rPr lang="en-ID" sz="1000" dirty="0">
                <a:hlinkClick r:id="rId14"/>
              </a:rPr>
              <a:t>Link </a:t>
            </a:r>
            <a:r>
              <a:rPr lang="en-ID" sz="1000" dirty="0" err="1">
                <a:hlinkClick r:id="rId14"/>
              </a:rPr>
              <a:t>Sertifikasi</a:t>
            </a:r>
            <a:r>
              <a:rPr lang="en-ID" sz="1000" dirty="0">
                <a:hlinkClick r:id="rId14"/>
              </a:rPr>
              <a:t> 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R Fundamental for Data Science – </a:t>
            </a:r>
            <a:r>
              <a:rPr lang="en-ID" sz="1000" dirty="0" err="1"/>
              <a:t>DQLab</a:t>
            </a:r>
            <a:r>
              <a:rPr lang="en-ID" sz="1000" dirty="0"/>
              <a:t> (November 2024) | </a:t>
            </a:r>
            <a:r>
              <a:rPr lang="en-ID" sz="1000" dirty="0">
                <a:hlinkClick r:id="rId15"/>
              </a:rPr>
              <a:t>Link </a:t>
            </a:r>
            <a:r>
              <a:rPr lang="en-ID" sz="1000" dirty="0" err="1">
                <a:hlinkClick r:id="rId15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Data Science – </a:t>
            </a:r>
            <a:r>
              <a:rPr lang="en-ID" sz="1000" dirty="0" err="1"/>
              <a:t>Dicoding</a:t>
            </a:r>
            <a:r>
              <a:rPr lang="en-ID" sz="1000" dirty="0"/>
              <a:t> Indonesia (September 2024) | </a:t>
            </a:r>
            <a:r>
              <a:rPr lang="en-ID" sz="1000" dirty="0">
                <a:hlinkClick r:id="rId16"/>
              </a:rPr>
              <a:t>Link </a:t>
            </a:r>
            <a:r>
              <a:rPr lang="en-ID" sz="1000" dirty="0" err="1">
                <a:hlinkClick r:id="rId16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Data Analysis: </a:t>
            </a:r>
            <a:r>
              <a:rPr lang="en-ID" sz="1000" dirty="0" err="1"/>
              <a:t>Fullstack</a:t>
            </a:r>
            <a:r>
              <a:rPr lang="en-ID" sz="1000" dirty="0"/>
              <a:t> Intensive Bootcamp – </a:t>
            </a:r>
            <a:r>
              <a:rPr lang="en-ID" sz="1000" dirty="0" err="1"/>
              <a:t>MySkill</a:t>
            </a:r>
            <a:r>
              <a:rPr lang="en-ID" sz="1000" dirty="0"/>
              <a:t> (Maret – Mei 2024) | </a:t>
            </a:r>
            <a:r>
              <a:rPr lang="en-ID" sz="1000" dirty="0">
                <a:hlinkClick r:id="rId17"/>
              </a:rPr>
              <a:t>Link </a:t>
            </a:r>
            <a:r>
              <a:rPr lang="en-ID" sz="1000" dirty="0" err="1">
                <a:hlinkClick r:id="rId17"/>
              </a:rPr>
              <a:t>Sertifikasi</a:t>
            </a:r>
            <a:r>
              <a:rPr lang="en-ID" sz="1000" dirty="0">
                <a:hlinkClick r:id="rId17"/>
              </a:rPr>
              <a:t> 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Mini Course Data Analytics – </a:t>
            </a:r>
            <a:r>
              <a:rPr lang="en-ID" sz="1000" dirty="0" err="1"/>
              <a:t>RevoU</a:t>
            </a:r>
            <a:r>
              <a:rPr lang="en-ID" sz="1000" dirty="0"/>
              <a:t> (September 2023) | </a:t>
            </a:r>
            <a:r>
              <a:rPr lang="en-ID" sz="1000" dirty="0">
                <a:hlinkClick r:id="rId18"/>
              </a:rPr>
              <a:t>Link </a:t>
            </a:r>
            <a:r>
              <a:rPr lang="en-ID" sz="1000" dirty="0" err="1">
                <a:hlinkClick r:id="rId18"/>
              </a:rPr>
              <a:t>Sertifikasi</a:t>
            </a:r>
            <a:endParaRPr lang="en-ID" sz="1000" dirty="0"/>
          </a:p>
          <a:p>
            <a:pPr marL="171450" indent="-171450" algn="just">
              <a:lnSpc>
                <a:spcPct val="150000"/>
              </a:lnSpc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ID" sz="1000" dirty="0"/>
              <a:t>Short Class Data Analysis – </a:t>
            </a:r>
            <a:r>
              <a:rPr lang="en-ID" sz="1000" dirty="0" err="1"/>
              <a:t>MySkill</a:t>
            </a:r>
            <a:r>
              <a:rPr lang="en-ID" sz="1000" dirty="0"/>
              <a:t> (Agustus 2023) | </a:t>
            </a:r>
            <a:r>
              <a:rPr lang="en-ID" sz="1000" dirty="0">
                <a:hlinkClick r:id="rId19"/>
              </a:rPr>
              <a:t>Link </a:t>
            </a:r>
            <a:r>
              <a:rPr lang="en-ID" sz="1000" dirty="0" err="1">
                <a:hlinkClick r:id="rId19"/>
              </a:rPr>
              <a:t>Sertifikasi</a:t>
            </a:r>
            <a:endParaRPr lang="en-ID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340500" y="1617658"/>
            <a:ext cx="560460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en-ID" dirty="0"/>
              <a:t>Bank </a:t>
            </a:r>
            <a:r>
              <a:rPr lang="en-ID" dirty="0" err="1"/>
              <a:t>Muamalat</a:t>
            </a:r>
            <a:r>
              <a:rPr lang="en-ID" dirty="0"/>
              <a:t> Indonesia </a:t>
            </a:r>
            <a:r>
              <a:rPr lang="en-ID" dirty="0" err="1"/>
              <a:t>adalah</a:t>
            </a:r>
            <a:r>
              <a:rPr lang="en-ID" dirty="0"/>
              <a:t> bank syariah </a:t>
            </a:r>
            <a:r>
              <a:rPr lang="en-ID" dirty="0" err="1"/>
              <a:t>pertama</a:t>
            </a:r>
            <a:r>
              <a:rPr lang="en-ID" dirty="0"/>
              <a:t> di Indonesia yang </a:t>
            </a:r>
            <a:r>
              <a:rPr lang="en-ID" dirty="0" err="1"/>
              <a:t>berdiri</a:t>
            </a:r>
            <a:r>
              <a:rPr lang="en-ID" dirty="0"/>
              <a:t> </a:t>
            </a:r>
            <a:r>
              <a:rPr lang="en-ID" dirty="0" err="1"/>
              <a:t>sejak</a:t>
            </a:r>
            <a:r>
              <a:rPr lang="en-ID" dirty="0"/>
              <a:t> </a:t>
            </a:r>
            <a:r>
              <a:rPr lang="en-ID" dirty="0" err="1"/>
              <a:t>tahun</a:t>
            </a:r>
            <a:r>
              <a:rPr lang="en-ID" dirty="0"/>
              <a:t> 1991.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pelopor</a:t>
            </a:r>
            <a:r>
              <a:rPr lang="en-ID" dirty="0"/>
              <a:t> </a:t>
            </a:r>
            <a:r>
              <a:rPr lang="en-ID" dirty="0" err="1"/>
              <a:t>perbankan</a:t>
            </a:r>
            <a:r>
              <a:rPr lang="en-ID" dirty="0"/>
              <a:t> syariah, Bank </a:t>
            </a:r>
            <a:r>
              <a:rPr lang="en-ID" dirty="0" err="1"/>
              <a:t>Muamalat</a:t>
            </a:r>
            <a:r>
              <a:rPr lang="en-ID" dirty="0"/>
              <a:t> </a:t>
            </a:r>
            <a:r>
              <a:rPr lang="en-ID" dirty="0" err="1"/>
              <a:t>memberikan</a:t>
            </a:r>
            <a:r>
              <a:rPr lang="en-ID" dirty="0"/>
              <a:t> </a:t>
            </a:r>
            <a:r>
              <a:rPr lang="en-ID" dirty="0" err="1"/>
              <a:t>berbagai</a:t>
            </a:r>
            <a:r>
              <a:rPr lang="en-ID" dirty="0"/>
              <a:t> </a:t>
            </a:r>
            <a:r>
              <a:rPr lang="en-ID" dirty="0" err="1"/>
              <a:t>layanan</a:t>
            </a:r>
            <a:r>
              <a:rPr lang="en-ID" dirty="0"/>
              <a:t> </a:t>
            </a:r>
            <a:r>
              <a:rPr lang="en-ID" dirty="0" err="1"/>
              <a:t>keuangan</a:t>
            </a:r>
            <a:r>
              <a:rPr lang="en-ID" dirty="0"/>
              <a:t> yang </a:t>
            </a:r>
            <a:r>
              <a:rPr lang="en-ID" dirty="0" err="1"/>
              <a:t>berlandaskan</a:t>
            </a:r>
            <a:r>
              <a:rPr lang="en-ID" dirty="0"/>
              <a:t> </a:t>
            </a:r>
            <a:r>
              <a:rPr lang="en-ID" dirty="0" err="1"/>
              <a:t>prinsip</a:t>
            </a:r>
            <a:r>
              <a:rPr lang="en-ID" dirty="0"/>
              <a:t> syariah,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tabungan</a:t>
            </a:r>
            <a:r>
              <a:rPr lang="en-ID" dirty="0"/>
              <a:t>, </a:t>
            </a:r>
            <a:r>
              <a:rPr lang="en-ID" dirty="0" err="1"/>
              <a:t>pembiayaan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layanan</a:t>
            </a:r>
            <a:r>
              <a:rPr lang="en-ID" dirty="0"/>
              <a:t> digital. Seiring </a:t>
            </a:r>
            <a:r>
              <a:rPr lang="en-ID" dirty="0" err="1"/>
              <a:t>perkembangan</a:t>
            </a:r>
            <a:r>
              <a:rPr lang="en-ID" dirty="0"/>
              <a:t> </a:t>
            </a:r>
            <a:r>
              <a:rPr lang="en-ID" dirty="0" err="1"/>
              <a:t>teknologi</a:t>
            </a:r>
            <a:r>
              <a:rPr lang="en-ID" dirty="0"/>
              <a:t>, Bank </a:t>
            </a:r>
            <a:r>
              <a:rPr lang="en-ID" dirty="0" err="1"/>
              <a:t>Muamalat</a:t>
            </a:r>
            <a:r>
              <a:rPr lang="en-ID" dirty="0"/>
              <a:t> juga </a:t>
            </a:r>
            <a:r>
              <a:rPr lang="en-ID" dirty="0" err="1"/>
              <a:t>aktif</a:t>
            </a:r>
            <a:r>
              <a:rPr lang="en-ID" dirty="0"/>
              <a:t> </a:t>
            </a:r>
            <a:r>
              <a:rPr lang="en-ID" dirty="0" err="1"/>
              <a:t>mendorong</a:t>
            </a:r>
            <a:r>
              <a:rPr lang="en-ID" dirty="0"/>
              <a:t> </a:t>
            </a:r>
            <a:r>
              <a:rPr lang="en-ID" dirty="0" err="1"/>
              <a:t>inovasi</a:t>
            </a:r>
            <a:r>
              <a:rPr lang="en-ID" dirty="0"/>
              <a:t> dan </a:t>
            </a:r>
            <a:r>
              <a:rPr lang="en-ID" dirty="0" err="1"/>
              <a:t>membangun</a:t>
            </a:r>
            <a:r>
              <a:rPr lang="en-ID" dirty="0"/>
              <a:t> </a:t>
            </a:r>
            <a:r>
              <a:rPr lang="en-ID" dirty="0" err="1"/>
              <a:t>talenta</a:t>
            </a:r>
            <a:r>
              <a:rPr lang="en-ID" dirty="0"/>
              <a:t> </a:t>
            </a:r>
            <a:r>
              <a:rPr lang="en-ID" dirty="0" err="1"/>
              <a:t>muda</a:t>
            </a:r>
            <a:r>
              <a:rPr lang="en-ID" dirty="0"/>
              <a:t> </a:t>
            </a:r>
            <a:r>
              <a:rPr lang="en-ID" dirty="0" err="1"/>
              <a:t>melalui</a:t>
            </a:r>
            <a:r>
              <a:rPr lang="en-ID" dirty="0"/>
              <a:t> program Virtual Internship Experience (VIX), </a:t>
            </a:r>
            <a:r>
              <a:rPr lang="en-ID" dirty="0" err="1"/>
              <a:t>termasuk</a:t>
            </a:r>
            <a:r>
              <a:rPr lang="en-ID" dirty="0"/>
              <a:t> di </a:t>
            </a:r>
            <a:r>
              <a:rPr lang="en-ID" dirty="0" err="1"/>
              <a:t>bidang</a:t>
            </a:r>
            <a:r>
              <a:rPr lang="en-ID" dirty="0"/>
              <a:t> Business Intelligence Analyst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mendukung</a:t>
            </a:r>
            <a:r>
              <a:rPr lang="en-ID" dirty="0"/>
              <a:t> </a:t>
            </a:r>
            <a:r>
              <a:rPr lang="en-ID" dirty="0" err="1"/>
              <a:t>transformasi</a:t>
            </a:r>
            <a:r>
              <a:rPr lang="en-ID" dirty="0"/>
              <a:t> digital dan </a:t>
            </a:r>
            <a:r>
              <a:rPr lang="en-ID" dirty="0" err="1"/>
              <a:t>pengambilan</a:t>
            </a:r>
            <a:r>
              <a:rPr lang="en-ID" dirty="0"/>
              <a:t> </a:t>
            </a:r>
            <a:r>
              <a:rPr lang="en-ID" dirty="0" err="1"/>
              <a:t>keputusan</a:t>
            </a:r>
            <a:r>
              <a:rPr lang="en-ID" dirty="0"/>
              <a:t> </a:t>
            </a:r>
            <a:r>
              <a:rPr lang="en-ID" dirty="0" err="1"/>
              <a:t>berbasis</a:t>
            </a:r>
            <a:r>
              <a:rPr lang="en-ID" dirty="0"/>
              <a:t> data.</a:t>
            </a:r>
          </a:p>
        </p:txBody>
      </p:sp>
      <p:sp>
        <p:nvSpPr>
          <p:cNvPr id="102" name="Google Shape;102;p17"/>
          <p:cNvSpPr txBox="1"/>
          <p:nvPr/>
        </p:nvSpPr>
        <p:spPr>
          <a:xfrm>
            <a:off x="340500" y="452038"/>
            <a:ext cx="8463000" cy="6465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" sz="3000" b="1" i="0" u="none" strike="noStrike" cap="non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About </a:t>
            </a:r>
            <a:r>
              <a:rPr lang="en" sz="3000" b="1" i="0" u="none" strike="noStrike" cap="none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Company</a:t>
            </a:r>
            <a:endParaRPr sz="3000" b="1" i="0" u="none" strike="noStrike" cap="none">
              <a:solidFill>
                <a:schemeClr val="accent5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2" name="object 13">
            <a:extLst>
              <a:ext uri="{FF2B5EF4-FFF2-40B4-BE49-F238E27FC236}">
                <a16:creationId xmlns:a16="http://schemas.microsoft.com/office/drawing/2014/main" id="{469D2D84-46B7-96BA-23E5-4FB58110A21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166238" y="2151269"/>
            <a:ext cx="2756624" cy="646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8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8"/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8"/>
          <p:cNvSpPr txBox="1"/>
          <p:nvPr/>
        </p:nvSpPr>
        <p:spPr>
          <a:xfrm>
            <a:off x="340500" y="1178963"/>
            <a:ext cx="8340300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en-ID" sz="1200" b="1" dirty="0" err="1"/>
              <a:t>Deskripsi</a:t>
            </a:r>
            <a:r>
              <a:rPr lang="en-ID" sz="1200" b="1" dirty="0"/>
              <a:t> Project:</a:t>
            </a:r>
          </a:p>
          <a:p>
            <a:pPr algn="just"/>
            <a:r>
              <a:rPr lang="en-ID" sz="1200" dirty="0"/>
              <a:t>Project </a:t>
            </a:r>
            <a:r>
              <a:rPr lang="en-ID" sz="1200" dirty="0" err="1"/>
              <a:t>ini</a:t>
            </a:r>
            <a:r>
              <a:rPr lang="en-ID" sz="1200" dirty="0"/>
              <a:t> </a:t>
            </a:r>
            <a:r>
              <a:rPr lang="en-ID" sz="1200" dirty="0" err="1"/>
              <a:t>bertujuan</a:t>
            </a:r>
            <a:r>
              <a:rPr lang="en-ID" sz="1200" dirty="0"/>
              <a:t> </a:t>
            </a:r>
            <a:r>
              <a:rPr lang="en-ID" sz="1200" dirty="0" err="1"/>
              <a:t>menganalisis</a:t>
            </a:r>
            <a:r>
              <a:rPr lang="en-ID" sz="1200" dirty="0"/>
              <a:t> data </a:t>
            </a:r>
            <a:r>
              <a:rPr lang="en-ID" sz="1200" dirty="0" err="1"/>
              <a:t>penjualan</a:t>
            </a:r>
            <a:r>
              <a:rPr lang="en-ID" sz="1200" dirty="0"/>
              <a:t> PT Sejahtera Bersama </a:t>
            </a:r>
            <a:r>
              <a:rPr lang="en-ID" sz="1200" dirty="0" err="1"/>
              <a:t>dengan</a:t>
            </a:r>
            <a:r>
              <a:rPr lang="en-ID" sz="1200" dirty="0"/>
              <a:t> </a:t>
            </a:r>
            <a:r>
              <a:rPr lang="en-ID" sz="1200" dirty="0" err="1"/>
              <a:t>menggabungkan</a:t>
            </a:r>
            <a:r>
              <a:rPr lang="en-ID" sz="1200" dirty="0"/>
              <a:t> </a:t>
            </a:r>
            <a:r>
              <a:rPr lang="en-ID" sz="1200" dirty="0" err="1"/>
              <a:t>empat</a:t>
            </a:r>
            <a:r>
              <a:rPr lang="en-ID" sz="1200" dirty="0"/>
              <a:t> dataset (customers, orders, products, dan product category) </a:t>
            </a:r>
            <a:r>
              <a:rPr lang="en-ID" sz="1200" dirty="0" err="1"/>
              <a:t>menggunakan</a:t>
            </a:r>
            <a:r>
              <a:rPr lang="en-ID" sz="1200" dirty="0"/>
              <a:t> </a:t>
            </a:r>
            <a:r>
              <a:rPr lang="en-ID" sz="1200" dirty="0" err="1"/>
              <a:t>BigQuery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membentuk</a:t>
            </a:r>
            <a:r>
              <a:rPr lang="en-ID" sz="1200" dirty="0"/>
              <a:t> master table. </a:t>
            </a:r>
            <a:r>
              <a:rPr lang="en-ID" sz="1200" dirty="0" err="1"/>
              <a:t>Hasilnya</a:t>
            </a:r>
            <a:r>
              <a:rPr lang="en-ID" sz="1200" dirty="0"/>
              <a:t> </a:t>
            </a:r>
            <a:r>
              <a:rPr lang="en-ID" sz="1200" dirty="0" err="1"/>
              <a:t>kemudian</a:t>
            </a:r>
            <a:r>
              <a:rPr lang="en-ID" sz="1200" dirty="0"/>
              <a:t> </a:t>
            </a:r>
            <a:r>
              <a:rPr lang="en-ID" sz="1200" dirty="0" err="1"/>
              <a:t>divisualisasikan</a:t>
            </a:r>
            <a:r>
              <a:rPr lang="en-ID" sz="1200" dirty="0"/>
              <a:t> di Looker Studio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melihat</a:t>
            </a:r>
            <a:r>
              <a:rPr lang="en-ID" sz="1200" dirty="0"/>
              <a:t> </a:t>
            </a:r>
            <a:r>
              <a:rPr lang="en-ID" sz="1200" dirty="0" err="1"/>
              <a:t>performa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 </a:t>
            </a:r>
            <a:r>
              <a:rPr lang="en-ID" sz="1200" dirty="0" err="1"/>
              <a:t>berdasarkan</a:t>
            </a:r>
            <a:r>
              <a:rPr lang="en-ID" sz="1200" dirty="0"/>
              <a:t> </a:t>
            </a: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dan </a:t>
            </a:r>
            <a:r>
              <a:rPr lang="en-ID" sz="1200" dirty="0" err="1"/>
              <a:t>kota</a:t>
            </a:r>
            <a:r>
              <a:rPr lang="en-ID" sz="1200" dirty="0"/>
              <a:t> </a:t>
            </a:r>
            <a:r>
              <a:rPr lang="en-ID" sz="1200" dirty="0" err="1"/>
              <a:t>pelanggan</a:t>
            </a:r>
            <a:r>
              <a:rPr lang="en-ID" sz="1200" dirty="0"/>
              <a:t>.</a:t>
            </a:r>
          </a:p>
          <a:p>
            <a:pPr algn="just"/>
            <a:endParaRPr lang="en-ID" sz="1200" b="1" dirty="0"/>
          </a:p>
          <a:p>
            <a:r>
              <a:rPr lang="en-ID" sz="1200" b="1" dirty="0"/>
              <a:t>Problem Statement:</a:t>
            </a:r>
          </a:p>
          <a:p>
            <a:pPr algn="just"/>
            <a:r>
              <a:rPr lang="en-ID" sz="1200" dirty="0" err="1"/>
              <a:t>Bagaimana</a:t>
            </a:r>
            <a:r>
              <a:rPr lang="en-ID" sz="1200" dirty="0"/>
              <a:t> PT Sejahtera Bersama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memahami</a:t>
            </a:r>
            <a:r>
              <a:rPr lang="en-ID" sz="1200" dirty="0"/>
              <a:t> </a:t>
            </a:r>
            <a:r>
              <a:rPr lang="en-ID" sz="1200" dirty="0" err="1"/>
              <a:t>performa</a:t>
            </a:r>
            <a:r>
              <a:rPr lang="en-ID" sz="1200" dirty="0"/>
              <a:t> </a:t>
            </a:r>
            <a:r>
              <a:rPr lang="en-ID" sz="1200" dirty="0" err="1"/>
              <a:t>penjualannya</a:t>
            </a:r>
            <a:r>
              <a:rPr lang="en-ID" sz="1200" dirty="0"/>
              <a:t>, </a:t>
            </a:r>
            <a:r>
              <a:rPr lang="en-ID" sz="1200" dirty="0" err="1"/>
              <a:t>termaksud</a:t>
            </a:r>
            <a:r>
              <a:rPr lang="en-ID" sz="1200" dirty="0"/>
              <a:t> </a:t>
            </a:r>
            <a:r>
              <a:rPr lang="en-ID" sz="1200" dirty="0" err="1"/>
              <a:t>tren</a:t>
            </a:r>
            <a:r>
              <a:rPr lang="en-ID" sz="1200" dirty="0"/>
              <a:t> per </a:t>
            </a:r>
            <a:r>
              <a:rPr lang="en-ID" sz="1200" dirty="0" err="1"/>
              <a:t>kategori</a:t>
            </a:r>
            <a:r>
              <a:rPr lang="en-ID" sz="1200" dirty="0"/>
              <a:t>, </a:t>
            </a:r>
            <a:r>
              <a:rPr lang="en-ID" sz="1200" dirty="0" err="1"/>
              <a:t>jumlah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</a:t>
            </a:r>
            <a:r>
              <a:rPr lang="en-ID" sz="1200" dirty="0" err="1"/>
              <a:t>terjual</a:t>
            </a:r>
            <a:r>
              <a:rPr lang="en-ID" sz="1200" dirty="0"/>
              <a:t> dan </a:t>
            </a:r>
            <a:r>
              <a:rPr lang="en-ID" sz="1200" dirty="0" err="1"/>
              <a:t>kontribusi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 </a:t>
            </a:r>
            <a:r>
              <a:rPr lang="en-ID" sz="1200" dirty="0" err="1"/>
              <a:t>tiap</a:t>
            </a:r>
            <a:r>
              <a:rPr lang="en-ID" sz="1200" dirty="0"/>
              <a:t> </a:t>
            </a:r>
            <a:r>
              <a:rPr lang="en-ID" sz="1200" dirty="0" err="1"/>
              <a:t>kota</a:t>
            </a:r>
            <a:r>
              <a:rPr lang="en-ID" sz="1200" dirty="0"/>
              <a:t>, agar </a:t>
            </a:r>
            <a:r>
              <a:rPr lang="en-ID" sz="1200" dirty="0" err="1"/>
              <a:t>dapat</a:t>
            </a:r>
            <a:r>
              <a:rPr lang="en-ID" sz="1200" dirty="0"/>
              <a:t> </a:t>
            </a:r>
            <a:r>
              <a:rPr lang="en-ID" sz="1200" dirty="0" err="1"/>
              <a:t>mengambil</a:t>
            </a:r>
            <a:r>
              <a:rPr lang="en-ID" sz="1200" dirty="0"/>
              <a:t> </a:t>
            </a:r>
            <a:r>
              <a:rPr lang="en-ID" sz="1200" dirty="0" err="1"/>
              <a:t>keputusan</a:t>
            </a:r>
            <a:r>
              <a:rPr lang="en-ID" sz="1200" dirty="0"/>
              <a:t> yang </a:t>
            </a:r>
            <a:r>
              <a:rPr lang="en-ID" sz="1200" dirty="0" err="1"/>
              <a:t>tepat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mempertahankan</a:t>
            </a:r>
            <a:r>
              <a:rPr lang="en-ID" sz="1200" dirty="0"/>
              <a:t> dan </a:t>
            </a:r>
            <a:r>
              <a:rPr lang="en-ID" sz="1200" dirty="0" err="1"/>
              <a:t>meningkatkan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?</a:t>
            </a:r>
          </a:p>
          <a:p>
            <a:pPr algn="just"/>
            <a:endParaRPr lang="en-ID" sz="1200" b="1" dirty="0"/>
          </a:p>
          <a:p>
            <a:pPr algn="just"/>
            <a:r>
              <a:rPr lang="en-ID" sz="1200" b="1" dirty="0"/>
              <a:t>Output yang </a:t>
            </a:r>
            <a:r>
              <a:rPr lang="en-ID" sz="1200" b="1" dirty="0" err="1"/>
              <a:t>dihasilkan</a:t>
            </a:r>
            <a:r>
              <a:rPr lang="en-ID" sz="1200" b="1" dirty="0"/>
              <a:t>:</a:t>
            </a:r>
            <a:endParaRPr lang="en-ID" sz="1200" dirty="0"/>
          </a:p>
          <a:p>
            <a:pPr algn="just"/>
            <a:r>
              <a:rPr lang="en-ID" sz="1200" dirty="0"/>
              <a:t>Output project </a:t>
            </a:r>
            <a:r>
              <a:rPr lang="en-ID" sz="1200" dirty="0" err="1"/>
              <a:t>ini</a:t>
            </a:r>
            <a:r>
              <a:rPr lang="en-ID" sz="1200" dirty="0"/>
              <a:t> </a:t>
            </a:r>
            <a:r>
              <a:rPr lang="en-ID" sz="1200" dirty="0" err="1"/>
              <a:t>berupa</a:t>
            </a:r>
            <a:r>
              <a:rPr lang="en-ID" sz="1200" dirty="0"/>
              <a:t> master table </a:t>
            </a:r>
            <a:r>
              <a:rPr lang="en-ID" sz="1200" dirty="0" err="1"/>
              <a:t>dalam</a:t>
            </a:r>
            <a:r>
              <a:rPr lang="en-ID" sz="1200" dirty="0"/>
              <a:t> format CSV </a:t>
            </a:r>
            <a:r>
              <a:rPr lang="en-ID" sz="1200" dirty="0" err="1"/>
              <a:t>hasil</a:t>
            </a:r>
            <a:r>
              <a:rPr lang="en-ID" sz="1200" dirty="0"/>
              <a:t> </a:t>
            </a:r>
            <a:r>
              <a:rPr lang="en-ID" sz="1200" dirty="0" err="1"/>
              <a:t>penggabungan</a:t>
            </a:r>
            <a:r>
              <a:rPr lang="en-ID" sz="1200" dirty="0"/>
              <a:t> </a:t>
            </a:r>
            <a:r>
              <a:rPr lang="en-ID" sz="1200" dirty="0" err="1"/>
              <a:t>empat</a:t>
            </a:r>
            <a:r>
              <a:rPr lang="en-ID" sz="1200" dirty="0"/>
              <a:t> </a:t>
            </a:r>
            <a:r>
              <a:rPr lang="en-ID" sz="1200" dirty="0" err="1"/>
              <a:t>tabel</a:t>
            </a:r>
            <a:r>
              <a:rPr lang="en-ID" sz="1200" dirty="0"/>
              <a:t> di </a:t>
            </a:r>
            <a:r>
              <a:rPr lang="en-ID" sz="1200" dirty="0" err="1"/>
              <a:t>BigQuery</a:t>
            </a:r>
            <a:r>
              <a:rPr lang="en-ID" sz="1200" dirty="0"/>
              <a:t>, </a:t>
            </a:r>
            <a:r>
              <a:rPr lang="en-ID" sz="1200" dirty="0" err="1"/>
              <a:t>serta</a:t>
            </a:r>
            <a:r>
              <a:rPr lang="en-ID" sz="1200" dirty="0"/>
              <a:t> dashboard Looker Studio yang </a:t>
            </a:r>
            <a:r>
              <a:rPr lang="en-ID" sz="1200" dirty="0" err="1"/>
              <a:t>menampilkan</a:t>
            </a:r>
            <a:r>
              <a:rPr lang="en-ID" sz="1200" dirty="0"/>
              <a:t> </a:t>
            </a:r>
            <a:r>
              <a:rPr lang="en-ID" sz="1200" dirty="0" err="1"/>
              <a:t>ringkasan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 </a:t>
            </a:r>
            <a:r>
              <a:rPr lang="en-ID" sz="1200" dirty="0" err="1"/>
              <a:t>seperti</a:t>
            </a:r>
            <a:r>
              <a:rPr lang="en-ID" sz="1200" dirty="0"/>
              <a:t> total sales, total quantity, </a:t>
            </a:r>
            <a:r>
              <a:rPr lang="en-ID" sz="1200" dirty="0" err="1"/>
              <a:t>penjualan</a:t>
            </a:r>
            <a:r>
              <a:rPr lang="en-ID" sz="1200" dirty="0"/>
              <a:t> per </a:t>
            </a:r>
            <a:r>
              <a:rPr lang="en-ID" sz="1200" dirty="0" err="1"/>
              <a:t>kategori</a:t>
            </a:r>
            <a:r>
              <a:rPr lang="en-ID" sz="1200" dirty="0"/>
              <a:t>, </a:t>
            </a:r>
            <a:r>
              <a:rPr lang="en-ID" sz="1200" dirty="0" err="1"/>
              <a:t>penjualan</a:t>
            </a:r>
            <a:r>
              <a:rPr lang="en-ID" sz="1200" dirty="0"/>
              <a:t> per </a:t>
            </a:r>
            <a:r>
              <a:rPr lang="en-ID" sz="1200" dirty="0" err="1"/>
              <a:t>kota</a:t>
            </a:r>
            <a:r>
              <a:rPr lang="en-ID" sz="1200" dirty="0"/>
              <a:t>, dan top 5 </a:t>
            </a: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terbaik</a:t>
            </a:r>
            <a:r>
              <a:rPr lang="en-ID" sz="1200" dirty="0"/>
              <a:t>. Dashboard </a:t>
            </a:r>
            <a:r>
              <a:rPr lang="en-ID" sz="1200" dirty="0" err="1"/>
              <a:t>ini</a:t>
            </a:r>
            <a:r>
              <a:rPr lang="en-ID" sz="1200" dirty="0"/>
              <a:t> </a:t>
            </a:r>
            <a:r>
              <a:rPr lang="en-ID" sz="1200" dirty="0" err="1"/>
              <a:t>memberikan</a:t>
            </a:r>
            <a:r>
              <a:rPr lang="en-ID" sz="1200" dirty="0"/>
              <a:t> insight </a:t>
            </a:r>
            <a:r>
              <a:rPr lang="en-ID" sz="1200" dirty="0" err="1"/>
              <a:t>cepat</a:t>
            </a:r>
            <a:r>
              <a:rPr lang="en-ID" sz="1200" dirty="0"/>
              <a:t> </a:t>
            </a:r>
            <a:r>
              <a:rPr lang="en-ID" sz="1200" dirty="0" err="1"/>
              <a:t>untuk</a:t>
            </a:r>
            <a:r>
              <a:rPr lang="en-ID" sz="1200" dirty="0"/>
              <a:t> </a:t>
            </a:r>
            <a:r>
              <a:rPr lang="en-ID" sz="1200" dirty="0" err="1"/>
              <a:t>mendukung</a:t>
            </a:r>
            <a:r>
              <a:rPr lang="en-ID" sz="1200" dirty="0"/>
              <a:t> </a:t>
            </a:r>
            <a:r>
              <a:rPr lang="en-ID" sz="1200" dirty="0" err="1"/>
              <a:t>keputusan</a:t>
            </a:r>
            <a:r>
              <a:rPr lang="en-ID" sz="1200" dirty="0"/>
              <a:t> </a:t>
            </a:r>
            <a:r>
              <a:rPr lang="en-ID" sz="1200" dirty="0" err="1"/>
              <a:t>bisnis</a:t>
            </a:r>
            <a:r>
              <a:rPr lang="en-ID" sz="1200" dirty="0"/>
              <a:t>.</a:t>
            </a:r>
          </a:p>
        </p:txBody>
      </p:sp>
      <p:sp>
        <p:nvSpPr>
          <p:cNvPr id="112" name="Google Shape;112;p18"/>
          <p:cNvSpPr txBox="1"/>
          <p:nvPr/>
        </p:nvSpPr>
        <p:spPr>
          <a:xfrm>
            <a:off x="340500" y="452038"/>
            <a:ext cx="8463000" cy="646500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" sz="3000" b="1" i="0" u="none" strike="noStrike" cap="non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Project </a:t>
            </a:r>
            <a:r>
              <a:rPr lang="en" sz="3000" b="1" i="0" u="none" strike="noStrike" cap="none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</a:rPr>
              <a:t>Portfolio</a:t>
            </a:r>
            <a:endParaRPr sz="3000" b="1" i="0" u="none" strike="noStrike" cap="none">
              <a:solidFill>
                <a:schemeClr val="accent5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6138708" y="4233250"/>
            <a:ext cx="30891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200" b="1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Project explanation video </a:t>
            </a:r>
            <a:r>
              <a:rPr lang="en" sz="1200" b="1" i="0" u="none" strike="noStrike" cap="none" dirty="0">
                <a:solidFill>
                  <a:schemeClr val="accent5"/>
                </a:solidFill>
                <a:latin typeface="Rubik"/>
                <a:ea typeface="Rubik"/>
                <a:cs typeface="Rubik"/>
                <a:sym typeface="Rubik"/>
                <a:hlinkClick r:id="rId5"/>
              </a:rPr>
              <a:t>here</a:t>
            </a:r>
            <a:r>
              <a:rPr lang="en" sz="1200" b="1" i="0" u="none" strike="noStrike" cap="none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!</a:t>
            </a:r>
            <a:endParaRPr sz="1200" b="1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14" name="Google Shape;114;p18"/>
          <p:cNvSpPr txBox="1"/>
          <p:nvPr/>
        </p:nvSpPr>
        <p:spPr>
          <a:xfrm>
            <a:off x="340500" y="4230554"/>
            <a:ext cx="3423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200" b="1" dirty="0">
                <a:latin typeface="Rubik"/>
                <a:ea typeface="Rubik"/>
                <a:cs typeface="Rubik"/>
                <a:sym typeface="Rubik"/>
              </a:rPr>
              <a:t>Link Looker Studio </a:t>
            </a:r>
            <a:r>
              <a:rPr lang="en" sz="1200" b="1" dirty="0">
                <a:solidFill>
                  <a:srgbClr val="0097A7"/>
                </a:solidFill>
                <a:latin typeface="Rubik"/>
                <a:ea typeface="Rubik"/>
                <a:cs typeface="Rubik"/>
                <a:sym typeface="Rubik"/>
                <a:hlinkClick r:id="rId6"/>
              </a:rPr>
              <a:t>here</a:t>
            </a:r>
            <a:r>
              <a:rPr lang="en" sz="1200" b="1" dirty="0">
                <a:latin typeface="Rubik"/>
                <a:ea typeface="Rubik"/>
                <a:cs typeface="Rubik"/>
                <a:sym typeface="Rubik"/>
              </a:rPr>
              <a:t>!</a:t>
            </a:r>
            <a:endParaRPr sz="1200" b="1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4" name="Google Shape;114;p18">
            <a:extLst>
              <a:ext uri="{FF2B5EF4-FFF2-40B4-BE49-F238E27FC236}">
                <a16:creationId xmlns:a16="http://schemas.microsoft.com/office/drawing/2014/main" id="{05877338-356C-64DA-09A8-593E4FF93CA4}"/>
              </a:ext>
            </a:extLst>
          </p:cNvPr>
          <p:cNvSpPr txBox="1"/>
          <p:nvPr/>
        </p:nvSpPr>
        <p:spPr>
          <a:xfrm>
            <a:off x="3669002" y="4233250"/>
            <a:ext cx="3423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200" b="1" dirty="0">
                <a:latin typeface="Rubik"/>
                <a:ea typeface="Rubik"/>
                <a:cs typeface="Rubik"/>
                <a:sym typeface="Rubik"/>
              </a:rPr>
              <a:t>Link BigQery </a:t>
            </a:r>
            <a:r>
              <a:rPr lang="en" sz="1200" b="1" dirty="0">
                <a:solidFill>
                  <a:srgbClr val="0097A7"/>
                </a:solidFill>
                <a:latin typeface="Rubik"/>
                <a:ea typeface="Rubik"/>
                <a:cs typeface="Rubik"/>
                <a:sym typeface="Rubik"/>
                <a:hlinkClick r:id="rId7"/>
              </a:rPr>
              <a:t>here</a:t>
            </a:r>
            <a:r>
              <a:rPr lang="en" sz="1200" b="1" dirty="0">
                <a:latin typeface="Rubik"/>
                <a:ea typeface="Rubik"/>
                <a:cs typeface="Rubik"/>
                <a:sym typeface="Rubik"/>
              </a:rPr>
              <a:t>!</a:t>
            </a:r>
            <a:endParaRPr sz="1200" b="1" i="0" u="none" strike="noStrike" cap="none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21123476-FBA1-8D9D-A1D0-8A5E72D3C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A712524E-E0C3-8732-785A-07A37921E539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74244951-4B72-31E6-62E7-86ABCCB2BFF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686BDD3B-4290-1A17-399B-78222D9EAACF}"/>
              </a:ext>
            </a:extLst>
          </p:cNvPr>
          <p:cNvSpPr txBox="1"/>
          <p:nvPr/>
        </p:nvSpPr>
        <p:spPr>
          <a:xfrm>
            <a:off x="340500" y="604788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1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72B9A503-EA95-F808-E53F-43F3C8727D06}"/>
              </a:ext>
            </a:extLst>
          </p:cNvPr>
          <p:cNvSpPr txBox="1"/>
          <p:nvPr/>
        </p:nvSpPr>
        <p:spPr>
          <a:xfrm>
            <a:off x="340500" y="1146088"/>
            <a:ext cx="846300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>
                <a:latin typeface="Rubik"/>
                <a:ea typeface="Rubik"/>
                <a:cs typeface="Rubik"/>
                <a:sym typeface="Rubik"/>
              </a:rPr>
              <a:t>Primary </a:t>
            </a: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Key pada masing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masing</a:t>
            </a: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tabel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9140AD-A93F-0B18-F558-DA0BD925CD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777494"/>
              </p:ext>
            </p:extLst>
          </p:nvPr>
        </p:nvGraphicFramePr>
        <p:xfrm>
          <a:off x="1426028" y="1903184"/>
          <a:ext cx="6174922" cy="209422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3087461">
                  <a:extLst>
                    <a:ext uri="{9D8B030D-6E8A-4147-A177-3AD203B41FA5}">
                      <a16:colId xmlns:a16="http://schemas.microsoft.com/office/drawing/2014/main" val="2653200589"/>
                    </a:ext>
                  </a:extLst>
                </a:gridCol>
                <a:gridCol w="3087461">
                  <a:extLst>
                    <a:ext uri="{9D8B030D-6E8A-4147-A177-3AD203B41FA5}">
                      <a16:colId xmlns:a16="http://schemas.microsoft.com/office/drawing/2014/main" val="3585928879"/>
                    </a:ext>
                  </a:extLst>
                </a:gridCol>
              </a:tblGrid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Nama Tabel</a:t>
                      </a:r>
                      <a:endParaRPr lang="en-ID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Primary Tabel</a:t>
                      </a:r>
                      <a:endParaRPr lang="en-ID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424328"/>
                  </a:ext>
                </a:extLst>
              </a:tr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customer_id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85884"/>
                  </a:ext>
                </a:extLst>
              </a:tr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Products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product_number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7197674"/>
                  </a:ext>
                </a:extLst>
              </a:tr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Orders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order_id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3734851"/>
                  </a:ext>
                </a:extLst>
              </a:tr>
              <a:tr h="418845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ProductCategory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category_id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158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543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F7E256B1-0E59-37B8-662E-3BCAA4CE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325BB193-65F7-DEE7-9F19-FA7ED7CA1D72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F1AFA33B-9CDA-68A4-37D4-5EE0205589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4616150E-498F-9596-2188-EF483018745F}"/>
              </a:ext>
            </a:extLst>
          </p:cNvPr>
          <p:cNvSpPr txBox="1"/>
          <p:nvPr/>
        </p:nvSpPr>
        <p:spPr>
          <a:xfrm>
            <a:off x="1684196" y="1823382"/>
            <a:ext cx="2517000" cy="600134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2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D24E265B-F604-94FF-3DAB-B68B1666FA81}"/>
              </a:ext>
            </a:extLst>
          </p:cNvPr>
          <p:cNvSpPr txBox="1"/>
          <p:nvPr/>
        </p:nvSpPr>
        <p:spPr>
          <a:xfrm>
            <a:off x="599414" y="2325544"/>
            <a:ext cx="3390579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Relationship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antar</a:t>
            </a: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tabel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248208-9A12-BAAD-80C0-4DC772106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1196" y="164465"/>
            <a:ext cx="3036313" cy="488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44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56FD68E9-A02B-C460-6CD8-95F685C34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D26E0807-1164-1F1C-361A-899AA6AB13F9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BA3A75EB-D266-11D0-7C30-A207FD3C987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BA431C0B-E7CA-CA2D-4434-62E1291D23ED}"/>
              </a:ext>
            </a:extLst>
          </p:cNvPr>
          <p:cNvSpPr txBox="1"/>
          <p:nvPr/>
        </p:nvSpPr>
        <p:spPr>
          <a:xfrm>
            <a:off x="340500" y="148513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3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BEE0451B-47EC-B5B5-950D-43C4C448CCD7}"/>
              </a:ext>
            </a:extLst>
          </p:cNvPr>
          <p:cNvSpPr txBox="1"/>
          <p:nvPr/>
        </p:nvSpPr>
        <p:spPr>
          <a:xfrm>
            <a:off x="1591355" y="333532"/>
            <a:ext cx="846300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Query </a:t>
            </a: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Pembuatan</a:t>
            </a: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 Master Table 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48A369-B8C3-3DB1-ED8C-B8DB8547A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064" y="1097568"/>
            <a:ext cx="8094438" cy="3569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983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5288531A-1ECD-02AC-A620-8F639E86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8F50E32C-92C5-7A05-3121-EEB665162237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BFA44B29-DB7B-1BD1-FC19-6EA1689F534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797B36B8-F6CD-4897-9EBB-2E925174E281}"/>
              </a:ext>
            </a:extLst>
          </p:cNvPr>
          <p:cNvSpPr txBox="1"/>
          <p:nvPr/>
        </p:nvSpPr>
        <p:spPr>
          <a:xfrm>
            <a:off x="340500" y="148513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3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B0718982-4C0E-23B2-C58D-9220607A5119}"/>
              </a:ext>
            </a:extLst>
          </p:cNvPr>
          <p:cNvSpPr txBox="1"/>
          <p:nvPr/>
        </p:nvSpPr>
        <p:spPr>
          <a:xfrm>
            <a:off x="1591355" y="333532"/>
            <a:ext cx="846300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 dirty="0">
                <a:latin typeface="Rubik"/>
                <a:ea typeface="Rubik"/>
                <a:cs typeface="Rubik"/>
                <a:sym typeface="Rubik"/>
              </a:rPr>
              <a:t>Hasil Master Table 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BC4BA-C65C-F184-6C1C-C8179838A2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500" y="825944"/>
            <a:ext cx="4741145" cy="20596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2D2FF0-57C7-23AE-1F1C-3BB3CCE4AB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2355" y="2898252"/>
            <a:ext cx="4741145" cy="205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431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C363EE0F-6CAD-5B78-A163-8F5A92E4C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34EF5A53-531C-A727-64F0-C08BF34AFA41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DADDB858-1AD4-4804-75DE-11E8FAD3CAE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316059EE-AD8D-8F49-92FD-79FB07675D23}"/>
              </a:ext>
            </a:extLst>
          </p:cNvPr>
          <p:cNvSpPr txBox="1"/>
          <p:nvPr/>
        </p:nvSpPr>
        <p:spPr>
          <a:xfrm>
            <a:off x="7516152" y="1725410"/>
            <a:ext cx="2402700" cy="600134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Soal 4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C3D342C6-4B51-A884-82C8-BB12A07CCA8A}"/>
              </a:ext>
            </a:extLst>
          </p:cNvPr>
          <p:cNvSpPr txBox="1"/>
          <p:nvPr/>
        </p:nvSpPr>
        <p:spPr>
          <a:xfrm>
            <a:off x="7347857" y="2325544"/>
            <a:ext cx="2917050" cy="492412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000" b="1" dirty="0" err="1">
                <a:latin typeface="Rubik"/>
                <a:ea typeface="Rubik"/>
                <a:cs typeface="Rubik"/>
                <a:sym typeface="Rubik"/>
              </a:rPr>
              <a:t>Visualisasi</a:t>
            </a:r>
            <a:endParaRPr sz="2000" b="1" dirty="0">
              <a:latin typeface="Rubik"/>
              <a:ea typeface="Rubik"/>
              <a:cs typeface="Rubik"/>
              <a:sym typeface="Rubik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34DEF4-A68E-5B29-922D-7B042C8312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618" y="244929"/>
            <a:ext cx="6626518" cy="473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7437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C3A1243A-7479-B452-5C9D-4F0E92F26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4EB90C63-6B33-D753-EA99-AE78B76C02D1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35026D01-07FC-FD10-84FC-796F495577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9C117B81-2EF6-72E1-CEEE-F0B61CCF14D0}"/>
              </a:ext>
            </a:extLst>
          </p:cNvPr>
          <p:cNvSpPr txBox="1"/>
          <p:nvPr/>
        </p:nvSpPr>
        <p:spPr>
          <a:xfrm>
            <a:off x="340500" y="604788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" sz="2700" b="1" dirty="0">
                <a:latin typeface="Rubik"/>
                <a:ea typeface="Rubik"/>
                <a:cs typeface="Rubik"/>
                <a:sym typeface="Rubik"/>
              </a:rPr>
              <a:t>Insight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70" name="Google Shape;170;p25">
            <a:extLst>
              <a:ext uri="{FF2B5EF4-FFF2-40B4-BE49-F238E27FC236}">
                <a16:creationId xmlns:a16="http://schemas.microsoft.com/office/drawing/2014/main" id="{32AB9805-43B0-EC4D-5397-B5CE371033AB}"/>
              </a:ext>
            </a:extLst>
          </p:cNvPr>
          <p:cNvSpPr txBox="1"/>
          <p:nvPr/>
        </p:nvSpPr>
        <p:spPr>
          <a:xfrm>
            <a:off x="340500" y="1335962"/>
            <a:ext cx="8463000" cy="2400627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Total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perusahaan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cukup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besar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yaitu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1,754,750.57.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Pendapatan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terbesar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datang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dari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Robots dan Drones.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digital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seperti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eBooks dan Training Videos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memang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paling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banyak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dibeli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tapi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nilai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tidak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terlalu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tinggi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karena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harganya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murah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Dari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sisi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wilayah, Washington dan Houston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adalah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kota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dengan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performa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paling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kuat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baik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dari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jumlah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order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maupun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nilai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Pola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transaksi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terlihat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paling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padat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 wilayah Amerika Utara,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sementara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kota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 wilayah lain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masih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belum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begitu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aktif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robotik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(Robots, Robot Kits, Drones)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memberikan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kontribusi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paling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besar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terhadap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revenue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perusahaan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4238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C61B3F22-6416-D6FC-24AD-40FAACCBD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98EC83D1-7461-C5DA-1BB3-102B775D341F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036B3770-FD6D-C41D-DF1B-CB75309D8D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0C4DEFE6-BB33-0AA7-D099-82918CEED987}"/>
              </a:ext>
            </a:extLst>
          </p:cNvPr>
          <p:cNvSpPr txBox="1"/>
          <p:nvPr/>
        </p:nvSpPr>
        <p:spPr>
          <a:xfrm>
            <a:off x="340500" y="604788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Weakness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70" name="Google Shape;170;p25">
            <a:extLst>
              <a:ext uri="{FF2B5EF4-FFF2-40B4-BE49-F238E27FC236}">
                <a16:creationId xmlns:a16="http://schemas.microsoft.com/office/drawing/2014/main" id="{A0611828-79CB-47A3-CAAA-1FE3CFE3A4D2}"/>
              </a:ext>
            </a:extLst>
          </p:cNvPr>
          <p:cNvSpPr txBox="1"/>
          <p:nvPr/>
        </p:nvSpPr>
        <p:spPr>
          <a:xfrm>
            <a:off x="340500" y="1335962"/>
            <a:ext cx="8463000" cy="1846629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Perusahaan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terlalu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bergantung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pada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Robots dan Drones. Kalau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permintaan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turun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pendapatan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bisa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langsung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terdampak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digital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meskipun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laku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banyak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nilai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kecil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sehingga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tidak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terlalu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berpengaruh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ke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total sales.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masih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terpusat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beberapa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kota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saja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wilayah lain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sebenarnya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masih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punya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peluang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tapi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belum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tergarap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Harga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tertentu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terlihat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kurang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optimal,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terutama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murah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volume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tinggi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tapi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pendapatannya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kecil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23767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3F7DB7D5-82A3-7D9D-462F-707FCA703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5">
            <a:extLst>
              <a:ext uri="{FF2B5EF4-FFF2-40B4-BE49-F238E27FC236}">
                <a16:creationId xmlns:a16="http://schemas.microsoft.com/office/drawing/2014/main" id="{DBE40F06-875A-7D02-C617-A704CA1DBB7F}"/>
              </a:ext>
            </a:extLst>
          </p:cNvPr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>
            <a:extLst>
              <a:ext uri="{FF2B5EF4-FFF2-40B4-BE49-F238E27FC236}">
                <a16:creationId xmlns:a16="http://schemas.microsoft.com/office/drawing/2014/main" id="{AEE4C2C2-2F7D-7D9A-9C20-AC6BBDE3FE3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8" b="5649"/>
          <a:stretch/>
        </p:blipFill>
        <p:spPr>
          <a:xfrm>
            <a:off x="7317600" y="185625"/>
            <a:ext cx="1399902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>
            <a:extLst>
              <a:ext uri="{FF2B5EF4-FFF2-40B4-BE49-F238E27FC236}">
                <a16:creationId xmlns:a16="http://schemas.microsoft.com/office/drawing/2014/main" id="{CE6CAE9F-514B-C706-F971-623ABBF7B8D8}"/>
              </a:ext>
            </a:extLst>
          </p:cNvPr>
          <p:cNvSpPr txBox="1"/>
          <p:nvPr/>
        </p:nvSpPr>
        <p:spPr>
          <a:xfrm>
            <a:off x="340500" y="604788"/>
            <a:ext cx="8463000" cy="615523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57150" lvl="0">
              <a:buSzPts val="2700"/>
            </a:pPr>
            <a:r>
              <a:rPr lang="en-US" sz="2700" b="1" dirty="0">
                <a:latin typeface="Rubik"/>
                <a:ea typeface="Rubik"/>
                <a:cs typeface="Rubik"/>
                <a:sym typeface="Rubik"/>
              </a:rPr>
              <a:t>Recommendation</a:t>
            </a:r>
            <a:endParaRPr sz="2700" b="1" dirty="0"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70" name="Google Shape;170;p25">
            <a:extLst>
              <a:ext uri="{FF2B5EF4-FFF2-40B4-BE49-F238E27FC236}">
                <a16:creationId xmlns:a16="http://schemas.microsoft.com/office/drawing/2014/main" id="{7273CBD6-5B57-6638-9D66-8C360A423F1F}"/>
              </a:ext>
            </a:extLst>
          </p:cNvPr>
          <p:cNvSpPr txBox="1"/>
          <p:nvPr/>
        </p:nvSpPr>
        <p:spPr>
          <a:xfrm>
            <a:off x="340500" y="1335962"/>
            <a:ext cx="8463000" cy="2400627"/>
          </a:xfrm>
          <a:prstGeom prst="rect">
            <a:avLst/>
          </a:prstGeom>
          <a:noFill/>
          <a:ln>
            <a:noFill/>
          </a:ln>
          <a:effectLst>
            <a:outerShdw blurRad="57150" dist="19050" dir="2820000" algn="bl" rotWithShape="0">
              <a:srgbClr val="B7B7B7">
                <a:alpha val="851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Perkuat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pemasaran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kota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sudah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kuat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performanya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seperti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Washington dan Houston, agar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tetap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stabil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Robots dan Drones,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perusahaan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bisa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menawarkan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layanan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tambahan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paket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menarik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atau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garansi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lebih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panjang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meningkatkan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value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digital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bisa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dijadikan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pemancing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pelanggan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baru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lalu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diarahkan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ke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pembelian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produk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bernilai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lebih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tinggi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Perusahaan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bisa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mulai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meningkatkan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promosi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di wilayah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belum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optimal,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karena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masih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ada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banyak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ruang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bertumbuh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.</a:t>
            </a:r>
          </a:p>
          <a:p>
            <a:pPr marL="228600" lvl="0" indent="-2286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Bikin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strategi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penjualan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yang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lebih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jelas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untuk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masing-masing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kategori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utama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supaya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kontribusinya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tetap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Rubik"/>
                <a:cs typeface="Rubik"/>
                <a:sym typeface="Rubik"/>
              </a:rPr>
              <a:t>konsisten</a:t>
            </a:r>
            <a:endParaRPr lang="en-US" sz="1200" dirty="0">
              <a:solidFill>
                <a:schemeClr val="dk1"/>
              </a:solidFill>
              <a:latin typeface="+mj-lt"/>
              <a:ea typeface="Rubik"/>
              <a:cs typeface="Rubik"/>
              <a:sym typeface="Rubi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76D80-2938-E070-7670-2F963CA1E1A0}"/>
              </a:ext>
            </a:extLst>
          </p:cNvPr>
          <p:cNvSpPr txBox="1"/>
          <p:nvPr/>
        </p:nvSpPr>
        <p:spPr>
          <a:xfrm>
            <a:off x="5260200" y="4338657"/>
            <a:ext cx="3543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Analisis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dan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rekomendasi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disusun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berdasarkan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hasil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master table dan dashboard </a:t>
            </a:r>
            <a:r>
              <a:rPr lang="en-ID" sz="1000" dirty="0" err="1">
                <a:solidFill>
                  <a:schemeClr val="bg1">
                    <a:lumMod val="50000"/>
                  </a:schemeClr>
                </a:solidFill>
              </a:rPr>
              <a:t>visualisasi</a:t>
            </a:r>
            <a:r>
              <a:rPr lang="en-ID" sz="1000" dirty="0">
                <a:solidFill>
                  <a:schemeClr val="bg1">
                    <a:lumMod val="50000"/>
                  </a:schemeClr>
                </a:solidFill>
              </a:rPr>
              <a:t> pada Looker Studio.</a:t>
            </a:r>
          </a:p>
        </p:txBody>
      </p:sp>
    </p:spTree>
    <p:extLst>
      <p:ext uri="{BB962C8B-B14F-4D97-AF65-F5344CB8AC3E}">
        <p14:creationId xmlns:p14="http://schemas.microsoft.com/office/powerpoint/2010/main" val="1642785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9FAB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0"/>
          <p:cNvPicPr preferRelativeResize="0"/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5425" y="4262625"/>
            <a:ext cx="1399901" cy="54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0"/>
          <p:cNvSpPr txBox="1"/>
          <p:nvPr/>
        </p:nvSpPr>
        <p:spPr>
          <a:xfrm>
            <a:off x="2376000" y="1939850"/>
            <a:ext cx="4392000" cy="8772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 b="1">
                <a:solidFill>
                  <a:schemeClr val="lt1"/>
                </a:solidFill>
                <a:latin typeface="Rubik"/>
                <a:ea typeface="Rubik"/>
                <a:cs typeface="Rubik"/>
                <a:sym typeface="Rubik"/>
              </a:rPr>
              <a:t>Thank You</a:t>
            </a:r>
            <a:endParaRPr sz="2000">
              <a:solidFill>
                <a:schemeClr val="lt1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130" name="Google Shape;130;p20"/>
          <p:cNvSpPr txBox="1"/>
          <p:nvPr/>
        </p:nvSpPr>
        <p:spPr>
          <a:xfrm>
            <a:off x="4314750" y="4248575"/>
            <a:ext cx="45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Rubik SemiBold"/>
                <a:ea typeface="Rubik SemiBold"/>
                <a:cs typeface="Rubik SemiBold"/>
                <a:sym typeface="Rubik SemiBold"/>
              </a:rPr>
              <a:t>X</a:t>
            </a:r>
            <a:endParaRPr sz="3000">
              <a:solidFill>
                <a:schemeClr val="lt1"/>
              </a:solidFill>
              <a:latin typeface="Rubik SemiBold"/>
              <a:ea typeface="Rubik SemiBold"/>
              <a:cs typeface="Rubik SemiBold"/>
              <a:sym typeface="Rubik SemiBold"/>
            </a:endParaRPr>
          </a:p>
        </p:txBody>
      </p:sp>
      <p:pic>
        <p:nvPicPr>
          <p:cNvPr id="2" name="object 13">
            <a:extLst>
              <a:ext uri="{FF2B5EF4-FFF2-40B4-BE49-F238E27FC236}">
                <a16:creationId xmlns:a16="http://schemas.microsoft.com/office/drawing/2014/main" id="{CFF68D4A-9A95-D17A-31A1-A059AFE519C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860659" y="4377076"/>
            <a:ext cx="1511000" cy="4268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903</Words>
  <Application>Microsoft Office PowerPoint</Application>
  <PresentationFormat>On-screen Show (16:9)</PresentationFormat>
  <Paragraphs>84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Rubik Medium</vt:lpstr>
      <vt:lpstr>Rubik</vt:lpstr>
      <vt:lpstr>Rubik SemiBold</vt:lpstr>
      <vt:lpstr>Rubik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Disya Ariza</cp:lastModifiedBy>
  <cp:revision>9</cp:revision>
  <dcterms:modified xsi:type="dcterms:W3CDTF">2025-11-24T13:57:33Z</dcterms:modified>
</cp:coreProperties>
</file>